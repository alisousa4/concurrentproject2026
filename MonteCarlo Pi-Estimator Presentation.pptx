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rial Nova" panose="020B0504020202020204" pitchFamily="34" charset="0"/>
      <p:regular r:id="rId16"/>
      <p:bold r:id="rId17"/>
      <p:italic r:id="rId18"/>
      <p:boldItalic r:id="rId19"/>
    </p:embeddedFont>
    <p:embeddedFont>
      <p:font typeface="Arial Nova Bold" panose="020B0804020202020204" charset="0"/>
      <p:regular r:id="rId20"/>
    </p:embeddedFont>
    <p:embeddedFont>
      <p:font typeface="Arial Nova Italics" panose="020B0604020202020204" charset="0"/>
      <p:regular r:id="rId21"/>
    </p:embeddedFont>
    <p:embeddedFont>
      <p:font typeface="Calibri" panose="020F0502020204030204" pitchFamily="34" charset="0"/>
      <p:regular r:id="rId22"/>
      <p:bold r:id="rId23"/>
      <p:italic r:id="rId24"/>
      <p:boldItalic r:id="rId25"/>
    </p:embeddedFont>
    <p:embeddedFont>
      <p:font typeface="Museo Moderno Bold Italics" panose="020B0604020202020204" charset="0"/>
      <p:regular r:id="rId26"/>
    </p:embeddedFont>
    <p:embeddedFont>
      <p:font typeface="Museo Moderno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13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7059901"/>
            <a:ext cx="2281745" cy="481297"/>
          </a:xfrm>
          <a:prstGeom prst="rect">
            <a:avLst/>
          </a:prstGeom>
        </p:spPr>
        <p:txBody>
          <a:bodyPr lIns="0" tIns="0" rIns="0" bIns="0" rtlCol="0" anchor="t">
            <a:spAutoFit/>
          </a:bodyPr>
          <a:lstStyle/>
          <a:p>
            <a:pPr algn="l">
              <a:lnSpc>
                <a:spcPts val="3919"/>
              </a:lnSpc>
            </a:pPr>
            <a:r>
              <a:rPr lang="en-US" sz="2799" spc="-167">
                <a:solidFill>
                  <a:srgbClr val="1D2024"/>
                </a:solidFill>
                <a:latin typeface="Arial Nova"/>
                <a:ea typeface="Arial Nova"/>
                <a:cs typeface="Arial Nova"/>
                <a:sym typeface="Arial Nova"/>
              </a:rPr>
              <a:t>presented by</a:t>
            </a:r>
          </a:p>
        </p:txBody>
      </p:sp>
      <p:sp>
        <p:nvSpPr>
          <p:cNvPr id="3" name="TextBox 3"/>
          <p:cNvSpPr txBox="1"/>
          <p:nvPr/>
        </p:nvSpPr>
        <p:spPr>
          <a:xfrm>
            <a:off x="1028700" y="1447800"/>
            <a:ext cx="11530604" cy="2209270"/>
          </a:xfrm>
          <a:prstGeom prst="rect">
            <a:avLst/>
          </a:prstGeom>
        </p:spPr>
        <p:txBody>
          <a:bodyPr lIns="0" tIns="0" rIns="0" bIns="0" rtlCol="0" anchor="t">
            <a:spAutoFit/>
          </a:bodyPr>
          <a:lstStyle/>
          <a:p>
            <a:pPr algn="l">
              <a:lnSpc>
                <a:spcPts val="16456"/>
              </a:lnSpc>
            </a:pPr>
            <a:r>
              <a:rPr lang="en-US" sz="17323" b="1" spc="-1385">
                <a:solidFill>
                  <a:srgbClr val="1D2024"/>
                </a:solidFill>
                <a:latin typeface="Arial Nova Bold"/>
                <a:ea typeface="Arial Nova Bold"/>
                <a:cs typeface="Arial Nova Bold"/>
                <a:sym typeface="Arial Nova Bold"/>
              </a:rPr>
              <a:t>Monte Carlo</a:t>
            </a:r>
          </a:p>
        </p:txBody>
      </p:sp>
      <p:sp>
        <p:nvSpPr>
          <p:cNvPr id="4" name="TextBox 4"/>
          <p:cNvSpPr txBox="1"/>
          <p:nvPr/>
        </p:nvSpPr>
        <p:spPr>
          <a:xfrm>
            <a:off x="1028700" y="7503131"/>
            <a:ext cx="2281745" cy="1045351"/>
          </a:xfrm>
          <a:prstGeom prst="rect">
            <a:avLst/>
          </a:prstGeom>
        </p:spPr>
        <p:txBody>
          <a:bodyPr lIns="0" tIns="0" rIns="0" bIns="0" rtlCol="0" anchor="t">
            <a:spAutoFit/>
          </a:bodyPr>
          <a:lstStyle/>
          <a:p>
            <a:pPr algn="l">
              <a:lnSpc>
                <a:spcPts val="2799"/>
              </a:lnSpc>
            </a:pPr>
            <a:r>
              <a:rPr lang="en-US" sz="1999" spc="-99" dirty="0">
                <a:solidFill>
                  <a:srgbClr val="1D2024"/>
                </a:solidFill>
                <a:latin typeface="Arial Nova"/>
                <a:ea typeface="Arial Nova"/>
                <a:cs typeface="Arial Nova"/>
                <a:sym typeface="Arial Nova"/>
              </a:rPr>
              <a:t>Ali Sousa 6357</a:t>
            </a:r>
          </a:p>
          <a:p>
            <a:pPr algn="l">
              <a:lnSpc>
                <a:spcPts val="2799"/>
              </a:lnSpc>
            </a:pPr>
            <a:r>
              <a:rPr lang="en-US" sz="1999" spc="-99" dirty="0">
                <a:solidFill>
                  <a:srgbClr val="1D2024"/>
                </a:solidFill>
                <a:latin typeface="Arial Nova"/>
                <a:ea typeface="Arial Nova"/>
                <a:cs typeface="Arial Nova"/>
                <a:sym typeface="Arial Nova"/>
              </a:rPr>
              <a:t>Mohammad </a:t>
            </a:r>
            <a:r>
              <a:rPr lang="en-US" sz="1999" spc="-99" dirty="0" err="1">
                <a:solidFill>
                  <a:srgbClr val="1D2024"/>
                </a:solidFill>
                <a:latin typeface="Arial Nova"/>
                <a:ea typeface="Arial Nova"/>
                <a:cs typeface="Arial Nova"/>
                <a:sym typeface="Arial Nova"/>
              </a:rPr>
              <a:t>Ayach</a:t>
            </a:r>
            <a:r>
              <a:rPr lang="en-US" sz="1999" spc="-99" dirty="0">
                <a:solidFill>
                  <a:srgbClr val="1D2024"/>
                </a:solidFill>
                <a:latin typeface="Arial Nova"/>
                <a:ea typeface="Arial Nova"/>
                <a:cs typeface="Arial Nova"/>
                <a:sym typeface="Arial Nova"/>
              </a:rPr>
              <a:t> 6656</a:t>
            </a:r>
          </a:p>
        </p:txBody>
      </p:sp>
      <p:sp>
        <p:nvSpPr>
          <p:cNvPr id="5" name="TextBox 5"/>
          <p:cNvSpPr txBox="1"/>
          <p:nvPr/>
        </p:nvSpPr>
        <p:spPr>
          <a:xfrm>
            <a:off x="1028700" y="3707191"/>
            <a:ext cx="11966609" cy="2216898"/>
          </a:xfrm>
          <a:prstGeom prst="rect">
            <a:avLst/>
          </a:prstGeom>
        </p:spPr>
        <p:txBody>
          <a:bodyPr lIns="0" tIns="0" rIns="0" bIns="0" rtlCol="0" anchor="t">
            <a:spAutoFit/>
          </a:bodyPr>
          <a:lstStyle/>
          <a:p>
            <a:pPr algn="l">
              <a:lnSpc>
                <a:spcPts val="16456"/>
              </a:lnSpc>
            </a:pPr>
            <a:r>
              <a:rPr lang="en-US" sz="17323" b="1" spc="-1385">
                <a:solidFill>
                  <a:srgbClr val="C83129"/>
                </a:solidFill>
                <a:latin typeface="Arial Nova Bold"/>
                <a:ea typeface="Arial Nova Bold"/>
                <a:cs typeface="Arial Nova Bold"/>
                <a:sym typeface="Arial Nova Bold"/>
              </a:rPr>
              <a:t>π</a:t>
            </a:r>
            <a:r>
              <a:rPr lang="en-US" sz="17323" b="1" spc="-1385">
                <a:solidFill>
                  <a:srgbClr val="1D2024"/>
                </a:solidFill>
                <a:latin typeface="Arial Nova Bold"/>
                <a:ea typeface="Arial Nova Bold"/>
                <a:cs typeface="Arial Nova Bold"/>
                <a:sym typeface="Arial Nova Bold"/>
              </a:rPr>
              <a:t> Estimator</a:t>
            </a:r>
          </a:p>
        </p:txBody>
      </p:sp>
      <p:sp>
        <p:nvSpPr>
          <p:cNvPr id="6" name="TextBox 6"/>
          <p:cNvSpPr txBox="1"/>
          <p:nvPr/>
        </p:nvSpPr>
        <p:spPr>
          <a:xfrm rot="5400000">
            <a:off x="13007474" y="4709762"/>
            <a:ext cx="5349966" cy="10974358"/>
          </a:xfrm>
          <a:prstGeom prst="rect">
            <a:avLst/>
          </a:prstGeom>
        </p:spPr>
        <p:txBody>
          <a:bodyPr lIns="0" tIns="0" rIns="0" bIns="0" rtlCol="0" anchor="t">
            <a:spAutoFit/>
          </a:bodyPr>
          <a:lstStyle/>
          <a:p>
            <a:pPr algn="l">
              <a:lnSpc>
                <a:spcPts val="90297"/>
              </a:lnSpc>
            </a:pPr>
            <a:r>
              <a:rPr lang="en-US" sz="64498" i="1" spc="-3869">
                <a:solidFill>
                  <a:srgbClr val="1D2024"/>
                </a:solidFill>
                <a:latin typeface="Museo Moderno Italics"/>
                <a:ea typeface="Museo Moderno Italics"/>
                <a:cs typeface="Museo Moderno Italics"/>
                <a:sym typeface="Museo Moderno Italics"/>
              </a:rPr>
              <a:t>E</a:t>
            </a:r>
          </a:p>
        </p:txBody>
      </p:sp>
      <p:sp>
        <p:nvSpPr>
          <p:cNvPr id="7" name="TextBox 7"/>
          <p:cNvSpPr txBox="1"/>
          <p:nvPr/>
        </p:nvSpPr>
        <p:spPr>
          <a:xfrm>
            <a:off x="4944631" y="7059901"/>
            <a:ext cx="2281745" cy="481297"/>
          </a:xfrm>
          <a:prstGeom prst="rect">
            <a:avLst/>
          </a:prstGeom>
        </p:spPr>
        <p:txBody>
          <a:bodyPr lIns="0" tIns="0" rIns="0" bIns="0" rtlCol="0" anchor="t">
            <a:spAutoFit/>
          </a:bodyPr>
          <a:lstStyle/>
          <a:p>
            <a:pPr algn="l">
              <a:lnSpc>
                <a:spcPts val="3919"/>
              </a:lnSpc>
            </a:pPr>
            <a:r>
              <a:rPr lang="en-US" sz="2799" spc="-167">
                <a:solidFill>
                  <a:srgbClr val="1D2024"/>
                </a:solidFill>
                <a:latin typeface="Arial Nova"/>
                <a:ea typeface="Arial Nova"/>
                <a:cs typeface="Arial Nova"/>
                <a:sym typeface="Arial Nova"/>
              </a:rPr>
              <a:t>submitted to</a:t>
            </a:r>
          </a:p>
        </p:txBody>
      </p:sp>
      <p:sp>
        <p:nvSpPr>
          <p:cNvPr id="8" name="TextBox 8"/>
          <p:cNvSpPr txBox="1"/>
          <p:nvPr/>
        </p:nvSpPr>
        <p:spPr>
          <a:xfrm>
            <a:off x="4944631" y="7528531"/>
            <a:ext cx="5508978" cy="339692"/>
          </a:xfrm>
          <a:prstGeom prst="rect">
            <a:avLst/>
          </a:prstGeom>
        </p:spPr>
        <p:txBody>
          <a:bodyPr lIns="0" tIns="0" rIns="0" bIns="0" rtlCol="0" anchor="t">
            <a:spAutoFit/>
          </a:bodyPr>
          <a:lstStyle/>
          <a:p>
            <a:pPr algn="l">
              <a:lnSpc>
                <a:spcPts val="2799"/>
              </a:lnSpc>
            </a:pPr>
            <a:r>
              <a:rPr lang="en-US" sz="1999" spc="-99">
                <a:solidFill>
                  <a:srgbClr val="1D2024"/>
                </a:solidFill>
                <a:latin typeface="Arial Nova"/>
                <a:ea typeface="Arial Nova"/>
                <a:cs typeface="Arial Nova"/>
                <a:sym typeface="Arial Nova"/>
              </a:rPr>
              <a:t>Dr. Mohammad Aoudi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028700" y="3727573"/>
            <a:ext cx="8734844" cy="5219701"/>
          </a:xfrm>
          <a:prstGeom prst="rect">
            <a:avLst/>
          </a:prstGeom>
        </p:spPr>
        <p:txBody>
          <a:bodyPr lIns="0" tIns="0" rIns="0" bIns="0" rtlCol="0" anchor="t">
            <a:spAutoFit/>
          </a:bodyPr>
          <a:lstStyle/>
          <a:p>
            <a:pPr algn="just">
              <a:lnSpc>
                <a:spcPts val="4199"/>
              </a:lnSpc>
            </a:pPr>
            <a:r>
              <a:rPr lang="en-US" sz="2999" spc="-149">
                <a:solidFill>
                  <a:srgbClr val="F8F8F8"/>
                </a:solidFill>
                <a:latin typeface="Arial Nova"/>
                <a:ea typeface="Arial Nova"/>
                <a:cs typeface="Arial Nova"/>
                <a:sym typeface="Arial Nova"/>
              </a:rPr>
              <a:t>This project implements a Monte Carlo Pi Estimator in Java using both sequential and parallel approaches. By comparing performance across large sample sizes, we demonstrate how multithreading significantly improves execution time without sacrificing accuracy. The project highlights the value of concurrency in numerical simulations and sets the stage for future enhancements like user-defined thread counts and advanced random generators.</a:t>
            </a:r>
          </a:p>
          <a:p>
            <a:pPr algn="just">
              <a:lnSpc>
                <a:spcPts val="4199"/>
              </a:lnSpc>
            </a:pPr>
            <a:endParaRPr lang="en-US" sz="2999" spc="-149">
              <a:solidFill>
                <a:srgbClr val="F8F8F8"/>
              </a:solidFill>
              <a:latin typeface="Arial Nova"/>
              <a:ea typeface="Arial Nova"/>
              <a:cs typeface="Arial Nova"/>
              <a:sym typeface="Arial Nova"/>
            </a:endParaRPr>
          </a:p>
        </p:txBody>
      </p:sp>
      <p:sp>
        <p:nvSpPr>
          <p:cNvPr id="4" name="TextBox 4"/>
          <p:cNvSpPr txBox="1"/>
          <p:nvPr/>
        </p:nvSpPr>
        <p:spPr>
          <a:xfrm rot="3440989">
            <a:off x="15965218" y="3216557"/>
            <a:ext cx="3213715" cy="6602856"/>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5" name="Freeform 5"/>
          <p:cNvSpPr/>
          <p:nvPr/>
        </p:nvSpPr>
        <p:spPr>
          <a:xfrm>
            <a:off x="15751494" y="7711806"/>
            <a:ext cx="1507806" cy="1546494"/>
          </a:xfrm>
          <a:custGeom>
            <a:avLst/>
            <a:gdLst/>
            <a:ahLst/>
            <a:cxnLst/>
            <a:rect l="l" t="t" r="r" b="b"/>
            <a:pathLst>
              <a:path w="1507806" h="1546494">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028700" y="1247775"/>
            <a:ext cx="7652896" cy="2271870"/>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    xecutive </a:t>
            </a:r>
          </a:p>
          <a:p>
            <a:pPr algn="l">
              <a:lnSpc>
                <a:spcPts val="8691"/>
              </a:lnSpc>
            </a:pPr>
            <a:r>
              <a:rPr lang="en-US" sz="9149" b="1" spc="-731">
                <a:solidFill>
                  <a:srgbClr val="F8F8F8"/>
                </a:solidFill>
                <a:latin typeface="Arial Nova Bold"/>
                <a:ea typeface="Arial Nova Bold"/>
                <a:cs typeface="Arial Nova Bold"/>
                <a:sym typeface="Arial Nova Bold"/>
              </a:rPr>
              <a:t>Summary</a:t>
            </a:r>
          </a:p>
        </p:txBody>
      </p:sp>
      <p:sp>
        <p:nvSpPr>
          <p:cNvPr id="7" name="TextBox 7"/>
          <p:cNvSpPr txBox="1"/>
          <p:nvPr/>
        </p:nvSpPr>
        <p:spPr>
          <a:xfrm>
            <a:off x="1028700" y="1265000"/>
            <a:ext cx="675944" cy="1277965"/>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E</a:t>
            </a:r>
          </a:p>
        </p:txBody>
      </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7891318">
            <a:off x="-297034" y="143530"/>
            <a:ext cx="3213715" cy="6602856"/>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4" name="Freeform 4"/>
          <p:cNvSpPr/>
          <p:nvPr/>
        </p:nvSpPr>
        <p:spPr>
          <a:xfrm rot="10267691">
            <a:off x="1306466" y="563670"/>
            <a:ext cx="1507806" cy="1546494"/>
          </a:xfrm>
          <a:custGeom>
            <a:avLst/>
            <a:gdLst/>
            <a:ahLst/>
            <a:cxnLst/>
            <a:rect l="l" t="t" r="r" b="b"/>
            <a:pathLst>
              <a:path w="1507806" h="1546494">
                <a:moveTo>
                  <a:pt x="0" y="0"/>
                </a:moveTo>
                <a:lnTo>
                  <a:pt x="1507807" y="0"/>
                </a:lnTo>
                <a:lnTo>
                  <a:pt x="1507807"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8681596" y="971550"/>
            <a:ext cx="8734844" cy="8886826"/>
          </a:xfrm>
          <a:prstGeom prst="rect">
            <a:avLst/>
          </a:prstGeom>
        </p:spPr>
        <p:txBody>
          <a:bodyPr lIns="0" tIns="0" rIns="0" bIns="0" rtlCol="0" anchor="t">
            <a:spAutoFit/>
          </a:bodyPr>
          <a:lstStyle/>
          <a:p>
            <a:pPr algn="just">
              <a:lnSpc>
                <a:spcPts val="4199"/>
              </a:lnSpc>
            </a:pPr>
            <a:r>
              <a:rPr lang="en-US" sz="2999" b="1" spc="-149">
                <a:solidFill>
                  <a:srgbClr val="FFFFFF"/>
                </a:solidFill>
                <a:latin typeface="Arial Nova Bold"/>
                <a:ea typeface="Arial Nova Bold"/>
                <a:cs typeface="Arial Nova Bold"/>
                <a:sym typeface="Arial Nova Bold"/>
              </a:rPr>
              <a:t>Monte Carlo Simulation </a:t>
            </a:r>
            <a:r>
              <a:rPr lang="en-US" sz="2999" spc="-149">
                <a:solidFill>
                  <a:srgbClr val="FFFFFF"/>
                </a:solidFill>
                <a:latin typeface="Arial Nova"/>
                <a:ea typeface="Arial Nova"/>
                <a:cs typeface="Arial Nova"/>
                <a:sym typeface="Arial Nova"/>
              </a:rPr>
              <a:t>is a random sampling technique used for:</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Numerical integration</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Risk analysis</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Solving deterministic problems</a:t>
            </a:r>
          </a:p>
          <a:p>
            <a:pPr algn="just">
              <a:lnSpc>
                <a:spcPts val="4199"/>
              </a:lnSpc>
            </a:pPr>
            <a:endParaRPr lang="en-US" sz="2999" spc="-149">
              <a:solidFill>
                <a:srgbClr val="FFFFFF"/>
              </a:solidFill>
              <a:latin typeface="Arial Nova"/>
              <a:ea typeface="Arial Nova"/>
              <a:cs typeface="Arial Nova"/>
              <a:sym typeface="Arial Nova"/>
            </a:endParaRPr>
          </a:p>
          <a:p>
            <a:pPr algn="just">
              <a:lnSpc>
                <a:spcPts val="4199"/>
              </a:lnSpc>
            </a:pPr>
            <a:r>
              <a:rPr lang="en-US" sz="2999" b="1" spc="-149">
                <a:solidFill>
                  <a:srgbClr val="FFFFFF"/>
                </a:solidFill>
                <a:latin typeface="Arial Nova Bold"/>
                <a:ea typeface="Arial Nova Bold"/>
                <a:cs typeface="Arial Nova Bold"/>
                <a:sym typeface="Arial Nova Bold"/>
              </a:rPr>
              <a:t>Why π?</a:t>
            </a:r>
          </a:p>
          <a:p>
            <a:pPr algn="just">
              <a:lnSpc>
                <a:spcPts val="4199"/>
              </a:lnSpc>
            </a:pPr>
            <a:r>
              <a:rPr lang="en-US" sz="2999" spc="-149">
                <a:solidFill>
                  <a:srgbClr val="FFFFFF"/>
                </a:solidFill>
                <a:latin typeface="Arial Nova"/>
                <a:ea typeface="Arial Nova"/>
                <a:cs typeface="Arial Nova"/>
                <a:sym typeface="Arial Nova"/>
              </a:rPr>
              <a:t>π appears in geometry, physics, and science. Estimating it is a classic problem.</a:t>
            </a:r>
          </a:p>
          <a:p>
            <a:pPr algn="just">
              <a:lnSpc>
                <a:spcPts val="4199"/>
              </a:lnSpc>
            </a:pPr>
            <a:endParaRPr lang="en-US" sz="2999" spc="-149">
              <a:solidFill>
                <a:srgbClr val="FFFFFF"/>
              </a:solidFill>
              <a:latin typeface="Arial Nova"/>
              <a:ea typeface="Arial Nova"/>
              <a:cs typeface="Arial Nova"/>
              <a:sym typeface="Arial Nova"/>
            </a:endParaRPr>
          </a:p>
          <a:p>
            <a:pPr algn="just">
              <a:lnSpc>
                <a:spcPts val="4199"/>
              </a:lnSpc>
            </a:pPr>
            <a:r>
              <a:rPr lang="en-US" sz="2999" b="1" spc="-149">
                <a:solidFill>
                  <a:srgbClr val="FFFFFF"/>
                </a:solidFill>
                <a:latin typeface="Arial Nova Bold"/>
                <a:ea typeface="Arial Nova Bold"/>
                <a:cs typeface="Arial Nova Bold"/>
                <a:sym typeface="Arial Nova Bold"/>
              </a:rPr>
              <a:t>The Idea:</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Generate random points in a unit square</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Count how many fall inside the unit circle</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Use the ratio to approximate π:</a:t>
            </a:r>
          </a:p>
          <a:p>
            <a:pPr marL="647694" lvl="1" indent="-323847" algn="just">
              <a:lnSpc>
                <a:spcPts val="4199"/>
              </a:lnSpc>
              <a:buFont typeface="Arial"/>
              <a:buChar char="•"/>
            </a:pPr>
            <a:r>
              <a:rPr lang="en-US" sz="2999" spc="-149">
                <a:solidFill>
                  <a:srgbClr val="FFFFFF"/>
                </a:solidFill>
                <a:latin typeface="Arial Nova"/>
                <a:ea typeface="Arial Nova"/>
                <a:cs typeface="Arial Nova"/>
                <a:sym typeface="Arial Nova"/>
              </a:rPr>
              <a:t>π≈4×Points in circle/Total points</a:t>
            </a:r>
          </a:p>
          <a:p>
            <a:pPr algn="just">
              <a:lnSpc>
                <a:spcPts val="4199"/>
              </a:lnSpc>
            </a:pPr>
            <a:endParaRPr lang="en-US" sz="2999" spc="-149">
              <a:solidFill>
                <a:srgbClr val="FFFFFF"/>
              </a:solidFill>
              <a:latin typeface="Arial Nova"/>
              <a:ea typeface="Arial Nova"/>
              <a:cs typeface="Arial Nova"/>
              <a:sym typeface="Arial Nova"/>
            </a:endParaRPr>
          </a:p>
          <a:p>
            <a:pPr algn="just">
              <a:lnSpc>
                <a:spcPts val="4199"/>
              </a:lnSpc>
            </a:pPr>
            <a:endParaRPr lang="en-US" sz="2999" spc="-149">
              <a:solidFill>
                <a:srgbClr val="FFFFFF"/>
              </a:solidFill>
              <a:latin typeface="Arial Nova"/>
              <a:ea typeface="Arial Nova"/>
              <a:cs typeface="Arial Nova"/>
              <a:sym typeface="Arial Nova"/>
            </a:endParaRPr>
          </a:p>
        </p:txBody>
      </p:sp>
      <p:sp>
        <p:nvSpPr>
          <p:cNvPr id="6" name="TextBox 6"/>
          <p:cNvSpPr txBox="1"/>
          <p:nvPr/>
        </p:nvSpPr>
        <p:spPr>
          <a:xfrm>
            <a:off x="1028700" y="8024884"/>
            <a:ext cx="7652896" cy="1171643"/>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    ntroduction</a:t>
            </a:r>
          </a:p>
        </p:txBody>
      </p:sp>
      <p:sp>
        <p:nvSpPr>
          <p:cNvPr id="7" name="TextBox 7"/>
          <p:cNvSpPr txBox="1"/>
          <p:nvPr/>
        </p:nvSpPr>
        <p:spPr>
          <a:xfrm>
            <a:off x="1249975" y="7980335"/>
            <a:ext cx="675944" cy="1277965"/>
          </a:xfrm>
          <a:prstGeom prst="rect">
            <a:avLst/>
          </a:prstGeom>
        </p:spPr>
        <p:txBody>
          <a:bodyPr lIns="0" tIns="0" rIns="0" bIns="0" rtlCol="0" anchor="t">
            <a:spAutoFit/>
          </a:bodyPr>
          <a:lstStyle/>
          <a:p>
            <a:pPr algn="l">
              <a:lnSpc>
                <a:spcPts val="9453"/>
              </a:lnSpc>
            </a:pPr>
            <a:r>
              <a:rPr lang="en-US" sz="9951" i="1" spc="-796">
                <a:solidFill>
                  <a:srgbClr val="C83129"/>
                </a:solidFill>
                <a:latin typeface="Museo Moderno Italics"/>
                <a:ea typeface="Museo Moderno Italics"/>
                <a:cs typeface="Museo Moderno Italics"/>
                <a:sym typeface="Museo Moderno Italics"/>
              </a:rPr>
              <a:t>I</a:t>
            </a:r>
          </a:p>
        </p:txBody>
      </p:sp>
    </p:spTree>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4796124" y="795624"/>
            <a:ext cx="8695751" cy="869575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 name="Group 6"/>
          <p:cNvGrpSpPr/>
          <p:nvPr/>
        </p:nvGrpSpPr>
        <p:grpSpPr>
          <a:xfrm>
            <a:off x="7600950" y="3600450"/>
            <a:ext cx="498249" cy="49824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9" name="Group 9"/>
          <p:cNvGrpSpPr/>
          <p:nvPr/>
        </p:nvGrpSpPr>
        <p:grpSpPr>
          <a:xfrm>
            <a:off x="10518011" y="3351326"/>
            <a:ext cx="498249" cy="49824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2" name="Group 12"/>
          <p:cNvGrpSpPr/>
          <p:nvPr/>
        </p:nvGrpSpPr>
        <p:grpSpPr>
          <a:xfrm>
            <a:off x="14978138" y="5914767"/>
            <a:ext cx="498249" cy="49824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5" name="Group 15"/>
          <p:cNvGrpSpPr/>
          <p:nvPr/>
        </p:nvGrpSpPr>
        <p:grpSpPr>
          <a:xfrm>
            <a:off x="2528828" y="1823734"/>
            <a:ext cx="498249" cy="49824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8" name="Group 18"/>
          <p:cNvGrpSpPr/>
          <p:nvPr/>
        </p:nvGrpSpPr>
        <p:grpSpPr>
          <a:xfrm>
            <a:off x="1459634" y="6733922"/>
            <a:ext cx="498249" cy="4982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1" name="Group 21"/>
          <p:cNvGrpSpPr/>
          <p:nvPr/>
        </p:nvGrpSpPr>
        <p:grpSpPr>
          <a:xfrm>
            <a:off x="3027077" y="4098699"/>
            <a:ext cx="498249" cy="4982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4" name="Group 24"/>
          <p:cNvGrpSpPr/>
          <p:nvPr/>
        </p:nvGrpSpPr>
        <p:grpSpPr>
          <a:xfrm>
            <a:off x="4297876" y="8494532"/>
            <a:ext cx="498249" cy="4982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7" name="Group 27"/>
          <p:cNvGrpSpPr/>
          <p:nvPr/>
        </p:nvGrpSpPr>
        <p:grpSpPr>
          <a:xfrm>
            <a:off x="8894876" y="7232171"/>
            <a:ext cx="498249" cy="49824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0" name="Group 30"/>
          <p:cNvGrpSpPr/>
          <p:nvPr/>
        </p:nvGrpSpPr>
        <p:grpSpPr>
          <a:xfrm rot="6786366">
            <a:off x="-3274793" y="-1721958"/>
            <a:ext cx="6549585" cy="6318905"/>
            <a:chOff x="0" y="0"/>
            <a:chExt cx="8732780" cy="8425207"/>
          </a:xfrm>
        </p:grpSpPr>
        <p:sp>
          <p:nvSpPr>
            <p:cNvPr id="31" name="TextBox 31"/>
            <p:cNvSpPr txBox="1"/>
            <p:nvPr/>
          </p:nvSpPr>
          <p:spPr>
            <a:xfrm rot="-7891318">
              <a:off x="1945790" y="152400"/>
              <a:ext cx="4284953" cy="8612914"/>
            </a:xfrm>
            <a:prstGeom prst="rect">
              <a:avLst/>
            </a:prstGeom>
          </p:spPr>
          <p:txBody>
            <a:bodyPr lIns="0" tIns="0" rIns="0" bIns="0" rtlCol="0" anchor="t">
              <a:spAutoFit/>
            </a:bodyPr>
            <a:lstStyle/>
            <a:p>
              <a:pPr algn="l">
                <a:lnSpc>
                  <a:spcPts val="54241"/>
                </a:lnSpc>
              </a:pPr>
              <a:r>
                <a:rPr lang="en-US" sz="38744" i="1" spc="-2324">
                  <a:solidFill>
                    <a:srgbClr val="C83129"/>
                  </a:solidFill>
                  <a:latin typeface="Museo Moderno Italics"/>
                  <a:ea typeface="Museo Moderno Italics"/>
                  <a:cs typeface="Museo Moderno Italics"/>
                  <a:sym typeface="Museo Moderno Italics"/>
                </a:rPr>
                <a:t>E</a:t>
              </a:r>
            </a:p>
          </p:txBody>
        </p:sp>
        <p:sp>
          <p:nvSpPr>
            <p:cNvPr id="32" name="Freeform 32"/>
            <p:cNvSpPr/>
            <p:nvPr/>
          </p:nvSpPr>
          <p:spPr>
            <a:xfrm rot="10267691">
              <a:off x="3969836" y="718036"/>
              <a:ext cx="2010408" cy="2061992"/>
            </a:xfrm>
            <a:custGeom>
              <a:avLst/>
              <a:gdLst/>
              <a:ahLst/>
              <a:cxnLst/>
              <a:rect l="l" t="t" r="r" b="b"/>
              <a:pathLst>
                <a:path w="2010408" h="2061992">
                  <a:moveTo>
                    <a:pt x="0" y="0"/>
                  </a:moveTo>
                  <a:lnTo>
                    <a:pt x="2010408" y="0"/>
                  </a:lnTo>
                  <a:lnTo>
                    <a:pt x="2010408" y="2061992"/>
                  </a:lnTo>
                  <a:lnTo>
                    <a:pt x="0" y="20619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
        <p:nvSpPr>
          <p:cNvPr id="33" name="TextBox 33"/>
          <p:cNvSpPr txBox="1"/>
          <p:nvPr/>
        </p:nvSpPr>
        <p:spPr>
          <a:xfrm rot="-2437494">
            <a:off x="15216104" y="-5478809"/>
            <a:ext cx="5349966" cy="10974358"/>
          </a:xfrm>
          <a:prstGeom prst="rect">
            <a:avLst/>
          </a:prstGeom>
        </p:spPr>
        <p:txBody>
          <a:bodyPr lIns="0" tIns="0" rIns="0" bIns="0" rtlCol="0" anchor="t">
            <a:spAutoFit/>
          </a:bodyPr>
          <a:lstStyle/>
          <a:p>
            <a:pPr algn="l">
              <a:lnSpc>
                <a:spcPts val="90297"/>
              </a:lnSpc>
            </a:pPr>
            <a:r>
              <a:rPr lang="en-US" sz="64498" i="1" spc="-3869">
                <a:solidFill>
                  <a:srgbClr val="1D2024"/>
                </a:solidFill>
                <a:latin typeface="Museo Moderno Italics"/>
                <a:ea typeface="Museo Moderno Italics"/>
                <a:cs typeface="Museo Moderno Italics"/>
                <a:sym typeface="Museo Moderno Italics"/>
              </a:rPr>
              <a:t>E</a:t>
            </a:r>
          </a:p>
        </p:txBody>
      </p:sp>
    </p:spTree>
  </p:cSld>
  <p:clrMapOvr>
    <a:masterClrMapping/>
  </p:clrMapOvr>
  <p:transition>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4796124" y="795624"/>
            <a:ext cx="8695751" cy="869575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 name="Group 6"/>
          <p:cNvGrpSpPr/>
          <p:nvPr/>
        </p:nvGrpSpPr>
        <p:grpSpPr>
          <a:xfrm>
            <a:off x="7600950" y="3600450"/>
            <a:ext cx="498249" cy="49824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9" name="Group 9"/>
          <p:cNvGrpSpPr/>
          <p:nvPr/>
        </p:nvGrpSpPr>
        <p:grpSpPr>
          <a:xfrm>
            <a:off x="10518011" y="3351326"/>
            <a:ext cx="498249" cy="49824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2" name="Group 12"/>
          <p:cNvGrpSpPr/>
          <p:nvPr/>
        </p:nvGrpSpPr>
        <p:grpSpPr>
          <a:xfrm>
            <a:off x="14978138" y="5914767"/>
            <a:ext cx="498249" cy="49824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5" name="Group 15"/>
          <p:cNvGrpSpPr/>
          <p:nvPr/>
        </p:nvGrpSpPr>
        <p:grpSpPr>
          <a:xfrm>
            <a:off x="2528828" y="1823734"/>
            <a:ext cx="498249" cy="49824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8" name="Group 18"/>
          <p:cNvGrpSpPr/>
          <p:nvPr/>
        </p:nvGrpSpPr>
        <p:grpSpPr>
          <a:xfrm>
            <a:off x="1459634" y="6733922"/>
            <a:ext cx="498249" cy="4982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1" name="Group 21"/>
          <p:cNvGrpSpPr/>
          <p:nvPr/>
        </p:nvGrpSpPr>
        <p:grpSpPr>
          <a:xfrm>
            <a:off x="3027077" y="4098699"/>
            <a:ext cx="498249" cy="4982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4" name="Group 24"/>
          <p:cNvGrpSpPr/>
          <p:nvPr/>
        </p:nvGrpSpPr>
        <p:grpSpPr>
          <a:xfrm>
            <a:off x="4297876" y="8494532"/>
            <a:ext cx="498249" cy="4982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7" name="Group 27"/>
          <p:cNvGrpSpPr/>
          <p:nvPr/>
        </p:nvGrpSpPr>
        <p:grpSpPr>
          <a:xfrm>
            <a:off x="8894876" y="7232171"/>
            <a:ext cx="498249" cy="49824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0" name="Group 30"/>
          <p:cNvGrpSpPr/>
          <p:nvPr/>
        </p:nvGrpSpPr>
        <p:grpSpPr>
          <a:xfrm>
            <a:off x="4995828" y="795624"/>
            <a:ext cx="498249" cy="49824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3" name="Group 33"/>
          <p:cNvGrpSpPr/>
          <p:nvPr/>
        </p:nvGrpSpPr>
        <p:grpSpPr>
          <a:xfrm>
            <a:off x="530451" y="4596948"/>
            <a:ext cx="498249" cy="49824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6" name="Group 36"/>
          <p:cNvGrpSpPr/>
          <p:nvPr/>
        </p:nvGrpSpPr>
        <p:grpSpPr>
          <a:xfrm>
            <a:off x="2030580" y="9242251"/>
            <a:ext cx="498249" cy="498249"/>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8" name="TextBox 3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9" name="Group 39"/>
          <p:cNvGrpSpPr/>
          <p:nvPr/>
        </p:nvGrpSpPr>
        <p:grpSpPr>
          <a:xfrm>
            <a:off x="13242751" y="8494532"/>
            <a:ext cx="498249" cy="498249"/>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1" name="TextBox 4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42" name="Group 42"/>
          <p:cNvGrpSpPr/>
          <p:nvPr/>
        </p:nvGrpSpPr>
        <p:grpSpPr>
          <a:xfrm>
            <a:off x="15227263" y="3351326"/>
            <a:ext cx="498249" cy="498249"/>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4" name="TextBox 4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45" name="Group 45"/>
          <p:cNvGrpSpPr/>
          <p:nvPr/>
        </p:nvGrpSpPr>
        <p:grpSpPr>
          <a:xfrm>
            <a:off x="17051318" y="5046792"/>
            <a:ext cx="498249" cy="498249"/>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7" name="TextBox 47"/>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48" name="Group 48"/>
          <p:cNvGrpSpPr/>
          <p:nvPr/>
        </p:nvGrpSpPr>
        <p:grpSpPr>
          <a:xfrm>
            <a:off x="17107276" y="1566556"/>
            <a:ext cx="498249" cy="498249"/>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0" name="TextBox 50"/>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51" name="Group 51"/>
          <p:cNvGrpSpPr/>
          <p:nvPr/>
        </p:nvGrpSpPr>
        <p:grpSpPr>
          <a:xfrm>
            <a:off x="13659188" y="625951"/>
            <a:ext cx="498249" cy="498249"/>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3" name="TextBox 53"/>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54" name="Group 54"/>
          <p:cNvGrpSpPr/>
          <p:nvPr/>
        </p:nvGrpSpPr>
        <p:grpSpPr>
          <a:xfrm>
            <a:off x="17051318" y="8494532"/>
            <a:ext cx="498249" cy="498249"/>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6" name="TextBox 56"/>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57" name="Group 57"/>
          <p:cNvGrpSpPr/>
          <p:nvPr/>
        </p:nvGrpSpPr>
        <p:grpSpPr>
          <a:xfrm rot="2385212">
            <a:off x="9104241" y="1725586"/>
            <a:ext cx="498249" cy="498249"/>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59" name="TextBox 59"/>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0" name="Group 60"/>
          <p:cNvGrpSpPr/>
          <p:nvPr/>
        </p:nvGrpSpPr>
        <p:grpSpPr>
          <a:xfrm rot="2385212">
            <a:off x="11506196" y="3399480"/>
            <a:ext cx="498249" cy="498249"/>
            <a:chOff x="0" y="0"/>
            <a:chExt cx="812800" cy="812800"/>
          </a:xfrm>
        </p:grpSpPr>
        <p:sp>
          <p:nvSpPr>
            <p:cNvPr id="61" name="Freeform 6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62" name="TextBox 62"/>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3" name="Group 63"/>
          <p:cNvGrpSpPr/>
          <p:nvPr/>
        </p:nvGrpSpPr>
        <p:grpSpPr>
          <a:xfrm rot="2385212">
            <a:off x="7776577" y="5345110"/>
            <a:ext cx="498249" cy="498249"/>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65" name="TextBox 6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6" name="Group 66"/>
          <p:cNvGrpSpPr/>
          <p:nvPr/>
        </p:nvGrpSpPr>
        <p:grpSpPr>
          <a:xfrm rot="3894404">
            <a:off x="9924398" y="4716597"/>
            <a:ext cx="498249" cy="498249"/>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68" name="TextBox 6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9" name="Group 69"/>
          <p:cNvGrpSpPr/>
          <p:nvPr/>
        </p:nvGrpSpPr>
        <p:grpSpPr>
          <a:xfrm rot="3894404">
            <a:off x="11387114" y="7252690"/>
            <a:ext cx="498249" cy="498249"/>
            <a:chOff x="0" y="0"/>
            <a:chExt cx="812800" cy="812800"/>
          </a:xfrm>
        </p:grpSpPr>
        <p:sp>
          <p:nvSpPr>
            <p:cNvPr id="70" name="Freeform 7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71" name="TextBox 7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72" name="Group 72"/>
          <p:cNvGrpSpPr/>
          <p:nvPr/>
        </p:nvGrpSpPr>
        <p:grpSpPr>
          <a:xfrm rot="3894404">
            <a:off x="7184187" y="7428587"/>
            <a:ext cx="498249" cy="498249"/>
            <a:chOff x="0" y="0"/>
            <a:chExt cx="812800" cy="812800"/>
          </a:xfrm>
        </p:grpSpPr>
        <p:sp>
          <p:nvSpPr>
            <p:cNvPr id="73" name="Freeform 7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74" name="TextBox 7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sp>
        <p:nvSpPr>
          <p:cNvPr id="75" name="TextBox 75"/>
          <p:cNvSpPr txBox="1"/>
          <p:nvPr/>
        </p:nvSpPr>
        <p:spPr>
          <a:xfrm rot="-2437494">
            <a:off x="15793385" y="-7045753"/>
            <a:ext cx="5349966" cy="10974358"/>
          </a:xfrm>
          <a:prstGeom prst="rect">
            <a:avLst/>
          </a:prstGeom>
        </p:spPr>
        <p:txBody>
          <a:bodyPr lIns="0" tIns="0" rIns="0" bIns="0" rtlCol="0" anchor="t">
            <a:spAutoFit/>
          </a:bodyPr>
          <a:lstStyle/>
          <a:p>
            <a:pPr algn="l">
              <a:lnSpc>
                <a:spcPts val="90297"/>
              </a:lnSpc>
            </a:pPr>
            <a:r>
              <a:rPr lang="en-US" sz="64498" i="1" spc="-3869">
                <a:solidFill>
                  <a:srgbClr val="1D2024"/>
                </a:solidFill>
                <a:latin typeface="Museo Moderno Italics"/>
                <a:ea typeface="Museo Moderno Italics"/>
                <a:cs typeface="Museo Moderno Italics"/>
                <a:sym typeface="Museo Moderno Italics"/>
              </a:rPr>
              <a:t>E</a:t>
            </a:r>
          </a:p>
        </p:txBody>
      </p:sp>
      <p:grpSp>
        <p:nvGrpSpPr>
          <p:cNvPr id="76" name="Group 76"/>
          <p:cNvGrpSpPr/>
          <p:nvPr/>
        </p:nvGrpSpPr>
        <p:grpSpPr>
          <a:xfrm rot="-3528528">
            <a:off x="-3274793" y="4849522"/>
            <a:ext cx="6549585" cy="6318905"/>
            <a:chOff x="0" y="0"/>
            <a:chExt cx="8732780" cy="8425207"/>
          </a:xfrm>
        </p:grpSpPr>
        <p:sp>
          <p:nvSpPr>
            <p:cNvPr id="77" name="TextBox 77"/>
            <p:cNvSpPr txBox="1"/>
            <p:nvPr/>
          </p:nvSpPr>
          <p:spPr>
            <a:xfrm rot="-7891318">
              <a:off x="1945790" y="152400"/>
              <a:ext cx="4284953" cy="8612914"/>
            </a:xfrm>
            <a:prstGeom prst="rect">
              <a:avLst/>
            </a:prstGeom>
          </p:spPr>
          <p:txBody>
            <a:bodyPr lIns="0" tIns="0" rIns="0" bIns="0" rtlCol="0" anchor="t">
              <a:spAutoFit/>
            </a:bodyPr>
            <a:lstStyle/>
            <a:p>
              <a:pPr algn="l">
                <a:lnSpc>
                  <a:spcPts val="54241"/>
                </a:lnSpc>
              </a:pPr>
              <a:r>
                <a:rPr lang="en-US" sz="38744" i="1" spc="-2324">
                  <a:solidFill>
                    <a:srgbClr val="C83129"/>
                  </a:solidFill>
                  <a:latin typeface="Museo Moderno Italics"/>
                  <a:ea typeface="Museo Moderno Italics"/>
                  <a:cs typeface="Museo Moderno Italics"/>
                  <a:sym typeface="Museo Moderno Italics"/>
                </a:rPr>
                <a:t>E</a:t>
              </a:r>
            </a:p>
          </p:txBody>
        </p:sp>
        <p:sp>
          <p:nvSpPr>
            <p:cNvPr id="78" name="Freeform 78"/>
            <p:cNvSpPr/>
            <p:nvPr/>
          </p:nvSpPr>
          <p:spPr>
            <a:xfrm rot="10267691">
              <a:off x="3969836" y="718036"/>
              <a:ext cx="2010408" cy="2061992"/>
            </a:xfrm>
            <a:custGeom>
              <a:avLst/>
              <a:gdLst/>
              <a:ahLst/>
              <a:cxnLst/>
              <a:rect l="l" t="t" r="r" b="b"/>
              <a:pathLst>
                <a:path w="2010408" h="2061992">
                  <a:moveTo>
                    <a:pt x="0" y="0"/>
                  </a:moveTo>
                  <a:lnTo>
                    <a:pt x="2010408" y="0"/>
                  </a:lnTo>
                  <a:lnTo>
                    <a:pt x="2010408" y="2061992"/>
                  </a:lnTo>
                  <a:lnTo>
                    <a:pt x="0" y="20619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6086042" y="1439761"/>
            <a:ext cx="6706190" cy="670619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 cap="sq">
              <a:solidFill>
                <a:srgbClr val="000000"/>
              </a:solidFill>
              <a:prstDash val="solid"/>
              <a:miter/>
            </a:ln>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 name="Group 6"/>
          <p:cNvGrpSpPr/>
          <p:nvPr/>
        </p:nvGrpSpPr>
        <p:grpSpPr>
          <a:xfrm>
            <a:off x="1527602" y="4281915"/>
            <a:ext cx="498249" cy="49824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9" name="Group 9"/>
          <p:cNvGrpSpPr/>
          <p:nvPr/>
        </p:nvGrpSpPr>
        <p:grpSpPr>
          <a:xfrm>
            <a:off x="4444663" y="4032790"/>
            <a:ext cx="498249" cy="49824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2" name="Group 12"/>
          <p:cNvGrpSpPr/>
          <p:nvPr/>
        </p:nvGrpSpPr>
        <p:grpSpPr>
          <a:xfrm>
            <a:off x="14978138" y="5914767"/>
            <a:ext cx="498249" cy="49824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5" name="Group 15"/>
          <p:cNvGrpSpPr/>
          <p:nvPr/>
        </p:nvGrpSpPr>
        <p:grpSpPr>
          <a:xfrm>
            <a:off x="15009822" y="1521393"/>
            <a:ext cx="498249" cy="49824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18" name="Group 18"/>
          <p:cNvGrpSpPr/>
          <p:nvPr/>
        </p:nvGrpSpPr>
        <p:grpSpPr>
          <a:xfrm>
            <a:off x="13940628" y="6431581"/>
            <a:ext cx="498249" cy="49824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1" name="Group 21"/>
          <p:cNvGrpSpPr/>
          <p:nvPr/>
        </p:nvGrpSpPr>
        <p:grpSpPr>
          <a:xfrm>
            <a:off x="15508071" y="3796358"/>
            <a:ext cx="498249" cy="49824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4" name="Group 24"/>
          <p:cNvGrpSpPr/>
          <p:nvPr/>
        </p:nvGrpSpPr>
        <p:grpSpPr>
          <a:xfrm>
            <a:off x="16778869" y="8192191"/>
            <a:ext cx="498249" cy="49824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27" name="Group 27"/>
          <p:cNvGrpSpPr/>
          <p:nvPr/>
        </p:nvGrpSpPr>
        <p:grpSpPr>
          <a:xfrm>
            <a:off x="2821528" y="7913636"/>
            <a:ext cx="498249" cy="49824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0" name="Group 30"/>
          <p:cNvGrpSpPr/>
          <p:nvPr/>
        </p:nvGrpSpPr>
        <p:grpSpPr>
          <a:xfrm>
            <a:off x="17476822" y="493283"/>
            <a:ext cx="498249" cy="49824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3" name="Group 33"/>
          <p:cNvGrpSpPr/>
          <p:nvPr/>
        </p:nvGrpSpPr>
        <p:grpSpPr>
          <a:xfrm>
            <a:off x="13011445" y="4294607"/>
            <a:ext cx="498249" cy="49824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6" name="Group 36"/>
          <p:cNvGrpSpPr/>
          <p:nvPr/>
        </p:nvGrpSpPr>
        <p:grpSpPr>
          <a:xfrm>
            <a:off x="14511573" y="8939910"/>
            <a:ext cx="498249" cy="498249"/>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8" name="TextBox 3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39" name="Group 39"/>
          <p:cNvGrpSpPr/>
          <p:nvPr/>
        </p:nvGrpSpPr>
        <p:grpSpPr>
          <a:xfrm>
            <a:off x="13242751" y="8494532"/>
            <a:ext cx="498249" cy="498249"/>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1" name="TextBox 4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42" name="Group 42"/>
          <p:cNvGrpSpPr/>
          <p:nvPr/>
        </p:nvGrpSpPr>
        <p:grpSpPr>
          <a:xfrm>
            <a:off x="15227263" y="3351326"/>
            <a:ext cx="498249" cy="498249"/>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4" name="TextBox 4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45" name="Group 45"/>
          <p:cNvGrpSpPr/>
          <p:nvPr/>
        </p:nvGrpSpPr>
        <p:grpSpPr>
          <a:xfrm>
            <a:off x="17051318" y="5046792"/>
            <a:ext cx="498249" cy="498249"/>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47" name="TextBox 47"/>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48" name="Group 48"/>
          <p:cNvGrpSpPr/>
          <p:nvPr/>
        </p:nvGrpSpPr>
        <p:grpSpPr>
          <a:xfrm>
            <a:off x="17107276" y="1566556"/>
            <a:ext cx="498249" cy="498249"/>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0" name="TextBox 50"/>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51" name="Group 51"/>
          <p:cNvGrpSpPr/>
          <p:nvPr/>
        </p:nvGrpSpPr>
        <p:grpSpPr>
          <a:xfrm>
            <a:off x="13659188" y="625951"/>
            <a:ext cx="498249" cy="498249"/>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3" name="TextBox 53"/>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54" name="Group 54"/>
          <p:cNvGrpSpPr/>
          <p:nvPr/>
        </p:nvGrpSpPr>
        <p:grpSpPr>
          <a:xfrm>
            <a:off x="17051318" y="8494532"/>
            <a:ext cx="498249" cy="498249"/>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6" name="TextBox 56"/>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57" name="Group 57"/>
          <p:cNvGrpSpPr/>
          <p:nvPr/>
        </p:nvGrpSpPr>
        <p:grpSpPr>
          <a:xfrm rot="2385212">
            <a:off x="3030893" y="2407051"/>
            <a:ext cx="498249" cy="498249"/>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59" name="TextBox 59"/>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0" name="Group 60"/>
          <p:cNvGrpSpPr/>
          <p:nvPr/>
        </p:nvGrpSpPr>
        <p:grpSpPr>
          <a:xfrm rot="2385212">
            <a:off x="5432848" y="4080945"/>
            <a:ext cx="498249" cy="498249"/>
            <a:chOff x="0" y="0"/>
            <a:chExt cx="812800" cy="812800"/>
          </a:xfrm>
        </p:grpSpPr>
        <p:sp>
          <p:nvSpPr>
            <p:cNvPr id="61" name="Freeform 6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62" name="TextBox 62"/>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3" name="Group 63"/>
          <p:cNvGrpSpPr/>
          <p:nvPr/>
        </p:nvGrpSpPr>
        <p:grpSpPr>
          <a:xfrm rot="2385212">
            <a:off x="1703229" y="6026575"/>
            <a:ext cx="498249" cy="498249"/>
            <a:chOff x="0" y="0"/>
            <a:chExt cx="812800" cy="812800"/>
          </a:xfrm>
        </p:grpSpPr>
        <p:sp>
          <p:nvSpPr>
            <p:cNvPr id="64" name="Freeform 6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65" name="TextBox 65"/>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6" name="Group 66"/>
          <p:cNvGrpSpPr/>
          <p:nvPr/>
        </p:nvGrpSpPr>
        <p:grpSpPr>
          <a:xfrm rot="3894404">
            <a:off x="3851050" y="5398061"/>
            <a:ext cx="498249" cy="498249"/>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68" name="TextBox 68"/>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69" name="Group 69"/>
          <p:cNvGrpSpPr/>
          <p:nvPr/>
        </p:nvGrpSpPr>
        <p:grpSpPr>
          <a:xfrm rot="3894404">
            <a:off x="5313766" y="7934154"/>
            <a:ext cx="498249" cy="498249"/>
            <a:chOff x="0" y="0"/>
            <a:chExt cx="812800" cy="812800"/>
          </a:xfrm>
        </p:grpSpPr>
        <p:sp>
          <p:nvSpPr>
            <p:cNvPr id="70" name="Freeform 7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71" name="TextBox 71"/>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grpSp>
        <p:nvGrpSpPr>
          <p:cNvPr id="72" name="Group 72"/>
          <p:cNvGrpSpPr/>
          <p:nvPr/>
        </p:nvGrpSpPr>
        <p:grpSpPr>
          <a:xfrm rot="3894404">
            <a:off x="1110839" y="8110051"/>
            <a:ext cx="498249" cy="498249"/>
            <a:chOff x="0" y="0"/>
            <a:chExt cx="812800" cy="812800"/>
          </a:xfrm>
        </p:grpSpPr>
        <p:sp>
          <p:nvSpPr>
            <p:cNvPr id="73" name="Freeform 7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3129"/>
            </a:solidFill>
          </p:spPr>
        </p:sp>
        <p:sp>
          <p:nvSpPr>
            <p:cNvPr id="74" name="TextBox 74"/>
            <p:cNvSpPr txBox="1"/>
            <p:nvPr/>
          </p:nvSpPr>
          <p:spPr>
            <a:xfrm>
              <a:off x="76200" y="38100"/>
              <a:ext cx="660400" cy="698500"/>
            </a:xfrm>
            <a:prstGeom prst="rect">
              <a:avLst/>
            </a:prstGeom>
          </p:spPr>
          <p:txBody>
            <a:bodyPr lIns="50800" tIns="50800" rIns="50800" bIns="50800" rtlCol="0" anchor="ctr"/>
            <a:lstStyle/>
            <a:p>
              <a:pPr algn="ctr">
                <a:lnSpc>
                  <a:spcPts val="2799"/>
                </a:lnSpc>
              </a:pPr>
              <a:endParaRPr/>
            </a:p>
          </p:txBody>
        </p:sp>
      </p:grpSp>
      <p:sp>
        <p:nvSpPr>
          <p:cNvPr id="75" name="TextBox 75"/>
          <p:cNvSpPr txBox="1"/>
          <p:nvPr/>
        </p:nvSpPr>
        <p:spPr>
          <a:xfrm rot="-2437494">
            <a:off x="17141784" y="1929551"/>
            <a:ext cx="5349966" cy="10974358"/>
          </a:xfrm>
          <a:prstGeom prst="rect">
            <a:avLst/>
          </a:prstGeom>
        </p:spPr>
        <p:txBody>
          <a:bodyPr lIns="0" tIns="0" rIns="0" bIns="0" rtlCol="0" anchor="t">
            <a:spAutoFit/>
          </a:bodyPr>
          <a:lstStyle/>
          <a:p>
            <a:pPr algn="l">
              <a:lnSpc>
                <a:spcPts val="90297"/>
              </a:lnSpc>
            </a:pPr>
            <a:r>
              <a:rPr lang="en-US" sz="64498" i="1" spc="-3869" dirty="0">
                <a:solidFill>
                  <a:srgbClr val="1D2024"/>
                </a:solidFill>
                <a:latin typeface="Museo Moderno Italics"/>
                <a:ea typeface="Museo Moderno Italics"/>
                <a:cs typeface="Museo Moderno Italics"/>
                <a:sym typeface="Museo Moderno Italics"/>
              </a:rPr>
              <a:t>E</a:t>
            </a:r>
          </a:p>
        </p:txBody>
      </p:sp>
      <p:grpSp>
        <p:nvGrpSpPr>
          <p:cNvPr id="76" name="Group 76"/>
          <p:cNvGrpSpPr/>
          <p:nvPr/>
        </p:nvGrpSpPr>
        <p:grpSpPr>
          <a:xfrm rot="-3528528">
            <a:off x="-3904617" y="-3159453"/>
            <a:ext cx="6549585" cy="6318905"/>
            <a:chOff x="-884473" y="718036"/>
            <a:chExt cx="9331106" cy="6106305"/>
          </a:xfrm>
        </p:grpSpPr>
        <p:sp>
          <p:nvSpPr>
            <p:cNvPr id="77" name="TextBox 77"/>
            <p:cNvSpPr txBox="1"/>
            <p:nvPr/>
          </p:nvSpPr>
          <p:spPr>
            <a:xfrm rot="13708682">
              <a:off x="1638604" y="16312"/>
              <a:ext cx="4284952" cy="9331106"/>
            </a:xfrm>
            <a:prstGeom prst="rect">
              <a:avLst/>
            </a:prstGeom>
          </p:spPr>
          <p:txBody>
            <a:bodyPr wrap="square" lIns="0" tIns="0" rIns="0" bIns="0" rtlCol="0" anchor="t">
              <a:spAutoFit/>
            </a:bodyPr>
            <a:lstStyle/>
            <a:p>
              <a:pPr algn="l">
                <a:lnSpc>
                  <a:spcPts val="54241"/>
                </a:lnSpc>
              </a:pPr>
              <a:r>
                <a:rPr lang="en-US" sz="38744" i="1" spc="-2324" dirty="0">
                  <a:solidFill>
                    <a:srgbClr val="C83129"/>
                  </a:solidFill>
                  <a:latin typeface="Museo Moderno Italics"/>
                  <a:ea typeface="Museo Moderno Italics"/>
                  <a:cs typeface="Museo Moderno Italics"/>
                  <a:sym typeface="Museo Moderno Italics"/>
                </a:rPr>
                <a:t>E</a:t>
              </a:r>
            </a:p>
          </p:txBody>
        </p:sp>
        <p:sp>
          <p:nvSpPr>
            <p:cNvPr id="78" name="Freeform 78"/>
            <p:cNvSpPr/>
            <p:nvPr/>
          </p:nvSpPr>
          <p:spPr>
            <a:xfrm rot="10267691">
              <a:off x="3969836" y="718036"/>
              <a:ext cx="2010408" cy="2061992"/>
            </a:xfrm>
            <a:custGeom>
              <a:avLst/>
              <a:gdLst/>
              <a:ahLst/>
              <a:cxnLst/>
              <a:rect l="l" t="t" r="r" b="b"/>
              <a:pathLst>
                <a:path w="2010408" h="2061992">
                  <a:moveTo>
                    <a:pt x="0" y="0"/>
                  </a:moveTo>
                  <a:lnTo>
                    <a:pt x="2010408" y="0"/>
                  </a:lnTo>
                  <a:lnTo>
                    <a:pt x="2010408" y="2061992"/>
                  </a:lnTo>
                  <a:lnTo>
                    <a:pt x="0" y="20619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537787">
            <a:off x="14782718" y="-3427106"/>
            <a:ext cx="3213715" cy="6602856"/>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4" name="Freeform 4"/>
          <p:cNvSpPr/>
          <p:nvPr/>
        </p:nvSpPr>
        <p:spPr>
          <a:xfrm rot="-2903202">
            <a:off x="16397959" y="1204899"/>
            <a:ext cx="1507806" cy="1546494"/>
          </a:xfrm>
          <a:custGeom>
            <a:avLst/>
            <a:gdLst/>
            <a:ahLst/>
            <a:cxnLst/>
            <a:rect l="l" t="t" r="r" b="b"/>
            <a:pathLst>
              <a:path w="1507806" h="1546494">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6183371" y="3573112"/>
            <a:ext cx="11075929" cy="1028701"/>
          </a:xfrm>
          <a:prstGeom prst="rect">
            <a:avLst/>
          </a:prstGeom>
        </p:spPr>
        <p:txBody>
          <a:bodyPr lIns="0" tIns="0" rIns="0" bIns="0" rtlCol="0" anchor="t">
            <a:spAutoFit/>
          </a:bodyPr>
          <a:lstStyle/>
          <a:p>
            <a:pPr algn="just">
              <a:lnSpc>
                <a:spcPts val="4199"/>
              </a:lnSpc>
            </a:pPr>
            <a:r>
              <a:rPr lang="en-US" sz="2999" spc="-149">
                <a:solidFill>
                  <a:srgbClr val="F8F8F8"/>
                </a:solidFill>
                <a:latin typeface="Arial Nova"/>
                <a:ea typeface="Arial Nova"/>
                <a:cs typeface="Arial Nova"/>
                <a:sym typeface="Arial Nova"/>
              </a:rPr>
              <a:t>Implement and compare sequential vs. parallel versions of π estimation using Monte Carlo.</a:t>
            </a:r>
          </a:p>
        </p:txBody>
      </p:sp>
      <p:sp>
        <p:nvSpPr>
          <p:cNvPr id="6" name="TextBox 6"/>
          <p:cNvSpPr txBox="1"/>
          <p:nvPr/>
        </p:nvSpPr>
        <p:spPr>
          <a:xfrm>
            <a:off x="1610508" y="3688708"/>
            <a:ext cx="3826448"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Goal</a:t>
            </a:r>
          </a:p>
        </p:txBody>
      </p:sp>
      <p:sp>
        <p:nvSpPr>
          <p:cNvPr id="7" name="TextBox 7"/>
          <p:cNvSpPr txBox="1"/>
          <p:nvPr/>
        </p:nvSpPr>
        <p:spPr>
          <a:xfrm>
            <a:off x="6183371" y="5321300"/>
            <a:ext cx="11075929" cy="1552576"/>
          </a:xfrm>
          <a:prstGeom prst="rect">
            <a:avLst/>
          </a:prstGeom>
        </p:spPr>
        <p:txBody>
          <a:bodyPr lIns="0" tIns="0" rIns="0" bIns="0" rtlCol="0" anchor="t">
            <a:spAutoFit/>
          </a:bodyPr>
          <a:lstStyle/>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Multi-core CPUs are common</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Performance can be significantly improved</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Ideal for CPU-bound simulations</a:t>
            </a:r>
          </a:p>
        </p:txBody>
      </p:sp>
      <p:sp>
        <p:nvSpPr>
          <p:cNvPr id="8" name="TextBox 8"/>
          <p:cNvSpPr txBox="1"/>
          <p:nvPr/>
        </p:nvSpPr>
        <p:spPr>
          <a:xfrm>
            <a:off x="1610508" y="5698833"/>
            <a:ext cx="3826448"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Why Parallelism?</a:t>
            </a:r>
          </a:p>
        </p:txBody>
      </p:sp>
      <p:sp>
        <p:nvSpPr>
          <p:cNvPr id="9" name="TextBox 9"/>
          <p:cNvSpPr txBox="1"/>
          <p:nvPr/>
        </p:nvSpPr>
        <p:spPr>
          <a:xfrm>
            <a:off x="6183371" y="7705724"/>
            <a:ext cx="11075929" cy="2076451"/>
          </a:xfrm>
          <a:prstGeom prst="rect">
            <a:avLst/>
          </a:prstGeom>
        </p:spPr>
        <p:txBody>
          <a:bodyPr lIns="0" tIns="0" rIns="0" bIns="0" rtlCol="0" anchor="t">
            <a:spAutoFit/>
          </a:bodyPr>
          <a:lstStyle/>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Write clean, efficient code</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Measure real-time speedup</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Visualize and analyze results</a:t>
            </a:r>
          </a:p>
          <a:p>
            <a:pPr algn="just">
              <a:lnSpc>
                <a:spcPts val="4199"/>
              </a:lnSpc>
            </a:pPr>
            <a:endParaRPr lang="en-US" sz="2999" spc="-149">
              <a:solidFill>
                <a:srgbClr val="F8F8F8"/>
              </a:solidFill>
              <a:latin typeface="Arial Nova"/>
              <a:ea typeface="Arial Nova"/>
              <a:cs typeface="Arial Nova"/>
              <a:sym typeface="Arial Nova"/>
            </a:endParaRPr>
          </a:p>
        </p:txBody>
      </p:sp>
      <p:sp>
        <p:nvSpPr>
          <p:cNvPr id="10" name="TextBox 10"/>
          <p:cNvSpPr txBox="1"/>
          <p:nvPr/>
        </p:nvSpPr>
        <p:spPr>
          <a:xfrm>
            <a:off x="1610508" y="7759993"/>
            <a:ext cx="3826448"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Objective</a:t>
            </a:r>
          </a:p>
        </p:txBody>
      </p:sp>
      <p:sp>
        <p:nvSpPr>
          <p:cNvPr id="11" name="Freeform 11"/>
          <p:cNvSpPr/>
          <p:nvPr/>
        </p:nvSpPr>
        <p:spPr>
          <a:xfrm rot="-2903202">
            <a:off x="1098214" y="3720107"/>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2903202">
            <a:off x="1098214" y="5730232"/>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rot="-2903202">
            <a:off x="1098214" y="7791392"/>
            <a:ext cx="322624" cy="330902"/>
          </a:xfrm>
          <a:custGeom>
            <a:avLst/>
            <a:gdLst/>
            <a:ahLst/>
            <a:cxnLst/>
            <a:rect l="l" t="t" r="r" b="b"/>
            <a:pathLst>
              <a:path w="322624" h="330902">
                <a:moveTo>
                  <a:pt x="0" y="0"/>
                </a:moveTo>
                <a:lnTo>
                  <a:pt x="322624" y="0"/>
                </a:lnTo>
                <a:lnTo>
                  <a:pt x="322624" y="330901"/>
                </a:lnTo>
                <a:lnTo>
                  <a:pt x="0" y="3309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259526" y="1220102"/>
            <a:ext cx="9011101" cy="1516090"/>
            <a:chOff x="0" y="0"/>
            <a:chExt cx="12014802" cy="2021453"/>
          </a:xfrm>
        </p:grpSpPr>
        <p:sp>
          <p:nvSpPr>
            <p:cNvPr id="15" name="TextBox 15"/>
            <p:cNvSpPr txBox="1"/>
            <p:nvPr/>
          </p:nvSpPr>
          <p:spPr>
            <a:xfrm>
              <a:off x="0" y="238125"/>
              <a:ext cx="901259" cy="1783328"/>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M</a:t>
              </a:r>
            </a:p>
          </p:txBody>
        </p:sp>
        <p:sp>
          <p:nvSpPr>
            <p:cNvPr id="16" name="TextBox 16"/>
            <p:cNvSpPr txBox="1"/>
            <p:nvPr/>
          </p:nvSpPr>
          <p:spPr>
            <a:xfrm>
              <a:off x="1810940" y="303886"/>
              <a:ext cx="10203861" cy="1635190"/>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otivation</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537787">
            <a:off x="14782718" y="-3427106"/>
            <a:ext cx="3213715" cy="6602856"/>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4" name="Freeform 4"/>
          <p:cNvSpPr/>
          <p:nvPr/>
        </p:nvSpPr>
        <p:spPr>
          <a:xfrm rot="-2903202">
            <a:off x="16397959" y="1204899"/>
            <a:ext cx="1507806" cy="1546494"/>
          </a:xfrm>
          <a:custGeom>
            <a:avLst/>
            <a:gdLst/>
            <a:ahLst/>
            <a:cxnLst/>
            <a:rect l="l" t="t" r="r" b="b"/>
            <a:pathLst>
              <a:path w="1507806" h="1546494">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062824" y="6200610"/>
            <a:ext cx="4781502" cy="3124201"/>
          </a:xfrm>
          <a:prstGeom prst="rect">
            <a:avLst/>
          </a:prstGeom>
        </p:spPr>
        <p:txBody>
          <a:bodyPr lIns="0" tIns="0" rIns="0" bIns="0" rtlCol="0" anchor="t">
            <a:spAutoFit/>
          </a:bodyPr>
          <a:lstStyle/>
          <a:p>
            <a:pPr algn="just">
              <a:lnSpc>
                <a:spcPts val="4199"/>
              </a:lnSpc>
            </a:pPr>
            <a:r>
              <a:rPr lang="en-US" sz="2999" spc="-149">
                <a:solidFill>
                  <a:srgbClr val="F8F8F8"/>
                </a:solidFill>
                <a:latin typeface="Arial Nova"/>
                <a:ea typeface="Arial Nova"/>
                <a:cs typeface="Arial Nova"/>
                <a:sym typeface="Arial Nova"/>
              </a:rPr>
              <a:t>Generate random (x, y) points in a unit square; count how many fall in the unit circle.Keep count of "hits" inside circle. Estimate π</a:t>
            </a:r>
          </a:p>
          <a:p>
            <a:pPr algn="just">
              <a:lnSpc>
                <a:spcPts val="4199"/>
              </a:lnSpc>
            </a:pPr>
            <a:endParaRPr lang="en-US" sz="2999" spc="-149">
              <a:solidFill>
                <a:srgbClr val="F8F8F8"/>
              </a:solidFill>
              <a:latin typeface="Arial Nova"/>
              <a:ea typeface="Arial Nova"/>
              <a:cs typeface="Arial Nova"/>
              <a:sym typeface="Arial Nova"/>
            </a:endParaRPr>
          </a:p>
        </p:txBody>
      </p:sp>
      <p:sp>
        <p:nvSpPr>
          <p:cNvPr id="6" name="TextBox 6"/>
          <p:cNvSpPr txBox="1"/>
          <p:nvPr/>
        </p:nvSpPr>
        <p:spPr>
          <a:xfrm>
            <a:off x="1062824" y="5096432"/>
            <a:ext cx="4781502"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Algorithm</a:t>
            </a:r>
          </a:p>
        </p:txBody>
      </p:sp>
      <p:sp>
        <p:nvSpPr>
          <p:cNvPr id="7" name="TextBox 7"/>
          <p:cNvSpPr txBox="1"/>
          <p:nvPr/>
        </p:nvSpPr>
        <p:spPr>
          <a:xfrm>
            <a:off x="6770311" y="6200610"/>
            <a:ext cx="4781502" cy="1552576"/>
          </a:xfrm>
          <a:prstGeom prst="rect">
            <a:avLst/>
          </a:prstGeom>
        </p:spPr>
        <p:txBody>
          <a:bodyPr lIns="0" tIns="0" rIns="0" bIns="0" rtlCol="0" anchor="t">
            <a:spAutoFit/>
          </a:bodyPr>
          <a:lstStyle/>
          <a:p>
            <a:pPr algn="l">
              <a:lnSpc>
                <a:spcPts val="4199"/>
              </a:lnSpc>
            </a:pPr>
            <a:r>
              <a:rPr lang="en-US" sz="2999" spc="-149">
                <a:solidFill>
                  <a:srgbClr val="F8F8F8"/>
                </a:solidFill>
                <a:latin typeface="Arial Nova"/>
                <a:ea typeface="Arial Nova"/>
                <a:cs typeface="Arial Nova"/>
                <a:sym typeface="Arial Nova"/>
              </a:rPr>
              <a:t>Single-threaded loop with </a:t>
            </a:r>
            <a:r>
              <a:rPr lang="en-US" sz="2999" spc="-149">
                <a:solidFill>
                  <a:srgbClr val="C83129"/>
                </a:solidFill>
                <a:latin typeface="Arial Nova"/>
                <a:ea typeface="Arial Nova"/>
                <a:cs typeface="Arial Nova"/>
                <a:sym typeface="Arial Nova"/>
              </a:rPr>
              <a:t>java.util.Random</a:t>
            </a:r>
          </a:p>
          <a:p>
            <a:pPr algn="l">
              <a:lnSpc>
                <a:spcPts val="4199"/>
              </a:lnSpc>
            </a:pPr>
            <a:endParaRPr lang="en-US" sz="2999" spc="-149">
              <a:solidFill>
                <a:srgbClr val="C83129"/>
              </a:solidFill>
              <a:latin typeface="Arial Nova"/>
              <a:ea typeface="Arial Nova"/>
              <a:cs typeface="Arial Nova"/>
              <a:sym typeface="Arial Nova"/>
            </a:endParaRPr>
          </a:p>
        </p:txBody>
      </p:sp>
      <p:sp>
        <p:nvSpPr>
          <p:cNvPr id="8" name="TextBox 8"/>
          <p:cNvSpPr txBox="1"/>
          <p:nvPr/>
        </p:nvSpPr>
        <p:spPr>
          <a:xfrm>
            <a:off x="6770311" y="5096432"/>
            <a:ext cx="4781502"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Sequential Version</a:t>
            </a:r>
          </a:p>
        </p:txBody>
      </p:sp>
      <p:sp>
        <p:nvSpPr>
          <p:cNvPr id="9" name="TextBox 9"/>
          <p:cNvSpPr txBox="1"/>
          <p:nvPr/>
        </p:nvSpPr>
        <p:spPr>
          <a:xfrm>
            <a:off x="12477798" y="6200610"/>
            <a:ext cx="3853903" cy="2076451"/>
          </a:xfrm>
          <a:prstGeom prst="rect">
            <a:avLst/>
          </a:prstGeom>
        </p:spPr>
        <p:txBody>
          <a:bodyPr lIns="0" tIns="0" rIns="0" bIns="0" rtlCol="0" anchor="t">
            <a:spAutoFit/>
          </a:bodyPr>
          <a:lstStyle/>
          <a:p>
            <a:pPr algn="just">
              <a:lnSpc>
                <a:spcPts val="4199"/>
              </a:lnSpc>
            </a:pPr>
            <a:r>
              <a:rPr lang="en-US" sz="2999" spc="-149">
                <a:solidFill>
                  <a:srgbClr val="F8F8F8"/>
                </a:solidFill>
                <a:latin typeface="Arial Nova"/>
                <a:ea typeface="Arial Nova"/>
                <a:cs typeface="Arial Nova"/>
                <a:sym typeface="Arial Nova"/>
              </a:rPr>
              <a:t>Uses </a:t>
            </a:r>
            <a:r>
              <a:rPr lang="en-US" sz="2999" spc="-149">
                <a:solidFill>
                  <a:srgbClr val="C83129"/>
                </a:solidFill>
                <a:latin typeface="Arial Nova"/>
                <a:ea typeface="Arial Nova"/>
                <a:cs typeface="Arial Nova"/>
                <a:sym typeface="Arial Nova"/>
              </a:rPr>
              <a:t>ExecutorService, Callable, and CompletionService</a:t>
            </a:r>
            <a:r>
              <a:rPr lang="en-US" sz="2999" spc="-149">
                <a:solidFill>
                  <a:srgbClr val="F8F8F8"/>
                </a:solidFill>
                <a:latin typeface="Arial Nova"/>
                <a:ea typeface="Arial Nova"/>
                <a:cs typeface="Arial Nova"/>
                <a:sym typeface="Arial Nova"/>
              </a:rPr>
              <a:t> for multi-threaded execution</a:t>
            </a:r>
          </a:p>
        </p:txBody>
      </p:sp>
      <p:sp>
        <p:nvSpPr>
          <p:cNvPr id="10" name="TextBox 10"/>
          <p:cNvSpPr txBox="1"/>
          <p:nvPr/>
        </p:nvSpPr>
        <p:spPr>
          <a:xfrm>
            <a:off x="12477798" y="5096432"/>
            <a:ext cx="4781502"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Parallel Version</a:t>
            </a:r>
          </a:p>
        </p:txBody>
      </p:sp>
      <p:sp>
        <p:nvSpPr>
          <p:cNvPr id="11" name="Freeform 11"/>
          <p:cNvSpPr/>
          <p:nvPr/>
        </p:nvSpPr>
        <p:spPr>
          <a:xfrm rot="-2903202">
            <a:off x="974535" y="4410085"/>
            <a:ext cx="322624" cy="330902"/>
          </a:xfrm>
          <a:custGeom>
            <a:avLst/>
            <a:gdLst/>
            <a:ahLst/>
            <a:cxnLst/>
            <a:rect l="l" t="t" r="r" b="b"/>
            <a:pathLst>
              <a:path w="322624" h="330902">
                <a:moveTo>
                  <a:pt x="0" y="0"/>
                </a:moveTo>
                <a:lnTo>
                  <a:pt x="322623" y="0"/>
                </a:lnTo>
                <a:lnTo>
                  <a:pt x="322623" y="330902"/>
                </a:lnTo>
                <a:lnTo>
                  <a:pt x="0" y="330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2903202">
            <a:off x="6839825" y="4410085"/>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rot="-2903202">
            <a:off x="12547311" y="4410085"/>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259526" y="1220102"/>
            <a:ext cx="9011101" cy="1516090"/>
            <a:chOff x="0" y="0"/>
            <a:chExt cx="12014802" cy="2021453"/>
          </a:xfrm>
        </p:grpSpPr>
        <p:sp>
          <p:nvSpPr>
            <p:cNvPr id="15" name="TextBox 15"/>
            <p:cNvSpPr txBox="1"/>
            <p:nvPr/>
          </p:nvSpPr>
          <p:spPr>
            <a:xfrm>
              <a:off x="0" y="238125"/>
              <a:ext cx="901259" cy="1783328"/>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M</a:t>
              </a:r>
            </a:p>
          </p:txBody>
        </p:sp>
        <p:sp>
          <p:nvSpPr>
            <p:cNvPr id="16" name="TextBox 16"/>
            <p:cNvSpPr txBox="1"/>
            <p:nvPr/>
          </p:nvSpPr>
          <p:spPr>
            <a:xfrm>
              <a:off x="1810940" y="303886"/>
              <a:ext cx="10203861" cy="1635190"/>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ethodology</a:t>
              </a:r>
            </a:p>
          </p:txBody>
        </p:sp>
      </p:grpSp>
    </p:spTree>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773164" y="5645100"/>
            <a:ext cx="6672833" cy="5827700"/>
            <a:chOff x="0" y="0"/>
            <a:chExt cx="8897110" cy="7770267"/>
          </a:xfrm>
        </p:grpSpPr>
        <p:sp>
          <p:nvSpPr>
            <p:cNvPr id="3" name="TextBox 3"/>
            <p:cNvSpPr txBox="1"/>
            <p:nvPr/>
          </p:nvSpPr>
          <p:spPr>
            <a:xfrm rot="3483114">
              <a:off x="2621286" y="-589511"/>
              <a:ext cx="4284953" cy="8556158"/>
            </a:xfrm>
            <a:prstGeom prst="rect">
              <a:avLst/>
            </a:prstGeom>
          </p:spPr>
          <p:txBody>
            <a:bodyPr lIns="0" tIns="0" rIns="0" bIns="0" rtlCol="0" anchor="t">
              <a:spAutoFit/>
            </a:bodyPr>
            <a:lstStyle/>
            <a:p>
              <a:pPr algn="l">
                <a:lnSpc>
                  <a:spcPts val="54241"/>
                </a:lnSpc>
              </a:pPr>
              <a:r>
                <a:rPr lang="en-US" sz="38744" i="1" spc="-2324">
                  <a:solidFill>
                    <a:srgbClr val="1D2024"/>
                  </a:solidFill>
                  <a:latin typeface="Museo Moderno Italics"/>
                  <a:ea typeface="Museo Moderno Italics"/>
                  <a:cs typeface="Museo Moderno Italics"/>
                  <a:sym typeface="Museo Moderno Italics"/>
                </a:rPr>
                <a:t>E</a:t>
              </a:r>
            </a:p>
          </p:txBody>
        </p:sp>
        <p:sp>
          <p:nvSpPr>
            <p:cNvPr id="4" name="Freeform 4"/>
            <p:cNvSpPr/>
            <p:nvPr/>
          </p:nvSpPr>
          <p:spPr>
            <a:xfrm rot="42124">
              <a:off x="2409359" y="5197182"/>
              <a:ext cx="2010408" cy="2061992"/>
            </a:xfrm>
            <a:custGeom>
              <a:avLst/>
              <a:gdLst/>
              <a:ahLst/>
              <a:cxnLst/>
              <a:rect l="l" t="t" r="r" b="b"/>
              <a:pathLst>
                <a:path w="2010408" h="2061992">
                  <a:moveTo>
                    <a:pt x="0" y="0"/>
                  </a:moveTo>
                  <a:lnTo>
                    <a:pt x="2010409" y="0"/>
                  </a:lnTo>
                  <a:lnTo>
                    <a:pt x="2010409" y="2061993"/>
                  </a:lnTo>
                  <a:lnTo>
                    <a:pt x="0" y="20619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5" name="Freeform 5"/>
          <p:cNvSpPr/>
          <p:nvPr/>
        </p:nvSpPr>
        <p:spPr>
          <a:xfrm rot="-2903202">
            <a:off x="1098214" y="1164874"/>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2903202">
            <a:off x="1098214" y="3437502"/>
            <a:ext cx="322624" cy="330902"/>
          </a:xfrm>
          <a:custGeom>
            <a:avLst/>
            <a:gdLst/>
            <a:ahLst/>
            <a:cxnLst/>
            <a:rect l="l" t="t" r="r" b="b"/>
            <a:pathLst>
              <a:path w="322624" h="330902">
                <a:moveTo>
                  <a:pt x="0" y="0"/>
                </a:moveTo>
                <a:lnTo>
                  <a:pt x="322624" y="0"/>
                </a:lnTo>
                <a:lnTo>
                  <a:pt x="322624" y="330901"/>
                </a:lnTo>
                <a:lnTo>
                  <a:pt x="0" y="3309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2903202">
            <a:off x="1098214" y="5710129"/>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a:grpSpLocks noChangeAspect="1"/>
          </p:cNvGrpSpPr>
          <p:nvPr/>
        </p:nvGrpSpPr>
        <p:grpSpPr>
          <a:xfrm rot="-1609099">
            <a:off x="9207606" y="417533"/>
            <a:ext cx="14178397" cy="8132557"/>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969696"/>
            </a:solidFill>
          </p:spPr>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727171"/>
            </a:solidFill>
          </p:spPr>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727171"/>
            </a:solidFill>
          </p:spPr>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4"/>
              <a:stretch>
                <a:fillRect l="-5717" r="-5717"/>
              </a:stretch>
            </a:blipFill>
          </p:spPr>
        </p:sp>
      </p:grpSp>
      <p:sp>
        <p:nvSpPr>
          <p:cNvPr id="14" name="TextBox 14"/>
          <p:cNvSpPr txBox="1"/>
          <p:nvPr/>
        </p:nvSpPr>
        <p:spPr>
          <a:xfrm>
            <a:off x="1762895" y="7981101"/>
            <a:ext cx="7652896" cy="1171624"/>
          </a:xfrm>
          <a:prstGeom prst="rect">
            <a:avLst/>
          </a:prstGeom>
        </p:spPr>
        <p:txBody>
          <a:bodyPr lIns="0" tIns="0" rIns="0" bIns="0" rtlCol="0" anchor="t">
            <a:spAutoFit/>
          </a:bodyPr>
          <a:lstStyle/>
          <a:p>
            <a:pPr algn="l">
              <a:lnSpc>
                <a:spcPts val="8691"/>
              </a:lnSpc>
            </a:pPr>
            <a:r>
              <a:rPr lang="en-US" sz="9149" b="1" spc="-731">
                <a:solidFill>
                  <a:srgbClr val="1D2024"/>
                </a:solidFill>
                <a:latin typeface="Arial Nova Bold"/>
                <a:ea typeface="Arial Nova Bold"/>
                <a:cs typeface="Arial Nova Bold"/>
                <a:sym typeface="Arial Nova Bold"/>
              </a:rPr>
              <a:t>echnologies</a:t>
            </a:r>
          </a:p>
        </p:txBody>
      </p:sp>
      <p:sp>
        <p:nvSpPr>
          <p:cNvPr id="15" name="TextBox 15"/>
          <p:cNvSpPr txBox="1"/>
          <p:nvPr/>
        </p:nvSpPr>
        <p:spPr>
          <a:xfrm>
            <a:off x="1028700" y="7936533"/>
            <a:ext cx="675944" cy="1277965"/>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T</a:t>
            </a:r>
          </a:p>
        </p:txBody>
      </p:sp>
      <p:sp>
        <p:nvSpPr>
          <p:cNvPr id="16" name="TextBox 16"/>
          <p:cNvSpPr txBox="1"/>
          <p:nvPr/>
        </p:nvSpPr>
        <p:spPr>
          <a:xfrm>
            <a:off x="1528451" y="1805402"/>
            <a:ext cx="7426418" cy="1244015"/>
          </a:xfrm>
          <a:prstGeom prst="rect">
            <a:avLst/>
          </a:prstGeom>
        </p:spPr>
        <p:txBody>
          <a:bodyPr lIns="0" tIns="0" rIns="0" bIns="0" rtlCol="0" anchor="t">
            <a:spAutoFit/>
          </a:bodyPr>
          <a:lstStyle/>
          <a:p>
            <a:pPr algn="just">
              <a:lnSpc>
                <a:spcPts val="3359"/>
              </a:lnSpc>
            </a:pPr>
            <a:r>
              <a:rPr lang="en-US" sz="2399" spc="-119">
                <a:solidFill>
                  <a:srgbClr val="1D2024"/>
                </a:solidFill>
                <a:latin typeface="Arial Nova"/>
                <a:ea typeface="Arial Nova"/>
                <a:cs typeface="Arial Nova"/>
                <a:sym typeface="Arial Nova"/>
              </a:rPr>
              <a:t>Utilized ExecutorService, Callable, and Futures for multithreaded execution</a:t>
            </a:r>
          </a:p>
          <a:p>
            <a:pPr algn="just">
              <a:lnSpc>
                <a:spcPts val="3359"/>
              </a:lnSpc>
            </a:pPr>
            <a:endParaRPr lang="en-US" sz="2399" spc="-119">
              <a:solidFill>
                <a:srgbClr val="1D2024"/>
              </a:solidFill>
              <a:latin typeface="Arial Nova"/>
              <a:ea typeface="Arial Nova"/>
              <a:cs typeface="Arial Nova"/>
              <a:sym typeface="Arial Nova"/>
            </a:endParaRPr>
          </a:p>
        </p:txBody>
      </p:sp>
      <p:sp>
        <p:nvSpPr>
          <p:cNvPr id="17" name="TextBox 17"/>
          <p:cNvSpPr txBox="1"/>
          <p:nvPr/>
        </p:nvSpPr>
        <p:spPr>
          <a:xfrm>
            <a:off x="1528451" y="1133475"/>
            <a:ext cx="5262019" cy="498474"/>
          </a:xfrm>
          <a:prstGeom prst="rect">
            <a:avLst/>
          </a:prstGeom>
        </p:spPr>
        <p:txBody>
          <a:bodyPr lIns="0" tIns="0" rIns="0" bIns="0" rtlCol="0" anchor="t">
            <a:spAutoFit/>
          </a:bodyPr>
          <a:lstStyle/>
          <a:p>
            <a:pPr algn="l">
              <a:lnSpc>
                <a:spcPts val="3799"/>
              </a:lnSpc>
            </a:pPr>
            <a:r>
              <a:rPr lang="en-US" sz="3999" b="1" spc="-319">
                <a:solidFill>
                  <a:srgbClr val="1D2024"/>
                </a:solidFill>
                <a:latin typeface="Arial Nova Bold"/>
                <a:ea typeface="Arial Nova Bold"/>
                <a:cs typeface="Arial Nova Bold"/>
                <a:sym typeface="Arial Nova Bold"/>
              </a:rPr>
              <a:t>Java Concurrency API</a:t>
            </a:r>
          </a:p>
        </p:txBody>
      </p:sp>
      <p:sp>
        <p:nvSpPr>
          <p:cNvPr id="18" name="TextBox 18"/>
          <p:cNvSpPr txBox="1"/>
          <p:nvPr/>
        </p:nvSpPr>
        <p:spPr>
          <a:xfrm>
            <a:off x="1528451" y="4078030"/>
            <a:ext cx="7426418" cy="405782"/>
          </a:xfrm>
          <a:prstGeom prst="rect">
            <a:avLst/>
          </a:prstGeom>
        </p:spPr>
        <p:txBody>
          <a:bodyPr lIns="0" tIns="0" rIns="0" bIns="0" rtlCol="0" anchor="t">
            <a:spAutoFit/>
          </a:bodyPr>
          <a:lstStyle/>
          <a:p>
            <a:pPr algn="just">
              <a:lnSpc>
                <a:spcPts val="3359"/>
              </a:lnSpc>
            </a:pPr>
            <a:r>
              <a:rPr lang="en-US" sz="2399" spc="-119">
                <a:solidFill>
                  <a:srgbClr val="1D2024"/>
                </a:solidFill>
                <a:latin typeface="Arial Nova"/>
                <a:ea typeface="Arial Nova"/>
                <a:cs typeface="Arial Nova"/>
                <a:sym typeface="Arial Nova"/>
              </a:rPr>
              <a:t>Used for plotting and visualizing performance comparisons</a:t>
            </a:r>
          </a:p>
        </p:txBody>
      </p:sp>
      <p:sp>
        <p:nvSpPr>
          <p:cNvPr id="19" name="TextBox 19"/>
          <p:cNvSpPr txBox="1"/>
          <p:nvPr/>
        </p:nvSpPr>
        <p:spPr>
          <a:xfrm>
            <a:off x="1528451" y="3406103"/>
            <a:ext cx="7028875" cy="498474"/>
          </a:xfrm>
          <a:prstGeom prst="rect">
            <a:avLst/>
          </a:prstGeom>
        </p:spPr>
        <p:txBody>
          <a:bodyPr lIns="0" tIns="0" rIns="0" bIns="0" rtlCol="0" anchor="t">
            <a:spAutoFit/>
          </a:bodyPr>
          <a:lstStyle/>
          <a:p>
            <a:pPr algn="l">
              <a:lnSpc>
                <a:spcPts val="3799"/>
              </a:lnSpc>
            </a:pPr>
            <a:r>
              <a:rPr lang="en-US" sz="3999" b="1" spc="-319">
                <a:solidFill>
                  <a:srgbClr val="1D2024"/>
                </a:solidFill>
                <a:latin typeface="Arial Nova Bold"/>
                <a:ea typeface="Arial Nova Bold"/>
                <a:cs typeface="Arial Nova Bold"/>
                <a:sym typeface="Arial Nova Bold"/>
              </a:rPr>
              <a:t>XChart</a:t>
            </a:r>
          </a:p>
        </p:txBody>
      </p:sp>
      <p:sp>
        <p:nvSpPr>
          <p:cNvPr id="20" name="TextBox 20"/>
          <p:cNvSpPr txBox="1"/>
          <p:nvPr/>
        </p:nvSpPr>
        <p:spPr>
          <a:xfrm>
            <a:off x="1528451" y="6350657"/>
            <a:ext cx="7426418" cy="824899"/>
          </a:xfrm>
          <a:prstGeom prst="rect">
            <a:avLst/>
          </a:prstGeom>
        </p:spPr>
        <p:txBody>
          <a:bodyPr lIns="0" tIns="0" rIns="0" bIns="0" rtlCol="0" anchor="t">
            <a:spAutoFit/>
          </a:bodyPr>
          <a:lstStyle/>
          <a:p>
            <a:pPr algn="just">
              <a:lnSpc>
                <a:spcPts val="3359"/>
              </a:lnSpc>
            </a:pPr>
            <a:r>
              <a:rPr lang="en-US" sz="2399" spc="-119">
                <a:solidFill>
                  <a:srgbClr val="1D2024"/>
                </a:solidFill>
                <a:latin typeface="Arial Nova"/>
                <a:ea typeface="Arial Nova"/>
                <a:cs typeface="Arial Nova"/>
                <a:sym typeface="Arial Nova"/>
              </a:rPr>
              <a:t>Version control and collaboration through a shared repository.</a:t>
            </a:r>
          </a:p>
          <a:p>
            <a:pPr algn="just">
              <a:lnSpc>
                <a:spcPts val="3359"/>
              </a:lnSpc>
            </a:pPr>
            <a:endParaRPr lang="en-US" sz="2399" spc="-119">
              <a:solidFill>
                <a:srgbClr val="1D2024"/>
              </a:solidFill>
              <a:latin typeface="Arial Nova"/>
              <a:ea typeface="Arial Nova"/>
              <a:cs typeface="Arial Nova"/>
              <a:sym typeface="Arial Nova"/>
            </a:endParaRPr>
          </a:p>
        </p:txBody>
      </p:sp>
      <p:sp>
        <p:nvSpPr>
          <p:cNvPr id="21" name="TextBox 21"/>
          <p:cNvSpPr txBox="1"/>
          <p:nvPr/>
        </p:nvSpPr>
        <p:spPr>
          <a:xfrm>
            <a:off x="1528451" y="5678731"/>
            <a:ext cx="8387091" cy="498474"/>
          </a:xfrm>
          <a:prstGeom prst="rect">
            <a:avLst/>
          </a:prstGeom>
        </p:spPr>
        <p:txBody>
          <a:bodyPr lIns="0" tIns="0" rIns="0" bIns="0" rtlCol="0" anchor="t">
            <a:spAutoFit/>
          </a:bodyPr>
          <a:lstStyle/>
          <a:p>
            <a:pPr algn="l">
              <a:lnSpc>
                <a:spcPts val="3799"/>
              </a:lnSpc>
            </a:pPr>
            <a:r>
              <a:rPr lang="en-US" sz="3999" b="1" spc="-319">
                <a:solidFill>
                  <a:srgbClr val="1D2024"/>
                </a:solidFill>
                <a:latin typeface="Arial Nova Bold"/>
                <a:ea typeface="Arial Nova Bold"/>
                <a:cs typeface="Arial Nova Bold"/>
                <a:sym typeface="Arial Nova Bold"/>
              </a:rPr>
              <a:t>GitHub</a:t>
            </a:r>
          </a:p>
        </p:txBody>
      </p:sp>
    </p:spTree>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D2024"/>
        </a:solidFill>
        <a:effectLst/>
      </p:bgPr>
    </p:bg>
    <p:spTree>
      <p:nvGrpSpPr>
        <p:cNvPr id="1" name=""/>
        <p:cNvGrpSpPr/>
        <p:nvPr/>
      </p:nvGrpSpPr>
      <p:grpSpPr>
        <a:xfrm>
          <a:off x="0" y="0"/>
          <a:ext cx="0" cy="0"/>
          <a:chOff x="0" y="0"/>
          <a:chExt cx="0" cy="0"/>
        </a:xfrm>
      </p:grpSpPr>
      <p:sp>
        <p:nvSpPr>
          <p:cNvPr id="2" name="TextBox 2"/>
          <p:cNvSpPr txBox="1"/>
          <p:nvPr/>
        </p:nvSpPr>
        <p:spPr>
          <a:xfrm rot="537787">
            <a:off x="14524099" y="-4036740"/>
            <a:ext cx="3213715" cy="6602856"/>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3" name="Freeform 3"/>
          <p:cNvSpPr/>
          <p:nvPr/>
        </p:nvSpPr>
        <p:spPr>
          <a:xfrm rot="-2903202">
            <a:off x="16284116" y="317226"/>
            <a:ext cx="1507806" cy="1546494"/>
          </a:xfrm>
          <a:custGeom>
            <a:avLst/>
            <a:gdLst/>
            <a:ahLst/>
            <a:cxnLst/>
            <a:rect l="l" t="t" r="r" b="b"/>
            <a:pathLst>
              <a:path w="1507806" h="1546494">
                <a:moveTo>
                  <a:pt x="0" y="0"/>
                </a:moveTo>
                <a:lnTo>
                  <a:pt x="1507807" y="0"/>
                </a:lnTo>
                <a:lnTo>
                  <a:pt x="1507807" y="1546494"/>
                </a:lnTo>
                <a:lnTo>
                  <a:pt x="0" y="15464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848620" y="614189"/>
            <a:ext cx="7652896" cy="1171643"/>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erformance</a:t>
            </a:r>
          </a:p>
        </p:txBody>
      </p:sp>
      <p:sp>
        <p:nvSpPr>
          <p:cNvPr id="5" name="TextBox 5"/>
          <p:cNvSpPr txBox="1"/>
          <p:nvPr/>
        </p:nvSpPr>
        <p:spPr>
          <a:xfrm>
            <a:off x="1062824" y="1604524"/>
            <a:ext cx="7652896" cy="1171624"/>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Benchmarks</a:t>
            </a:r>
          </a:p>
        </p:txBody>
      </p:sp>
      <p:sp>
        <p:nvSpPr>
          <p:cNvPr id="7" name="TextBox 7"/>
          <p:cNvSpPr txBox="1"/>
          <p:nvPr/>
        </p:nvSpPr>
        <p:spPr>
          <a:xfrm>
            <a:off x="1172675" y="507867"/>
            <a:ext cx="675944" cy="1277965"/>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P</a:t>
            </a:r>
          </a:p>
        </p:txBody>
      </p:sp>
      <p:pic>
        <p:nvPicPr>
          <p:cNvPr id="11" name="Picture 10">
            <a:extLst>
              <a:ext uri="{FF2B5EF4-FFF2-40B4-BE49-F238E27FC236}">
                <a16:creationId xmlns:a16="http://schemas.microsoft.com/office/drawing/2014/main" id="{A269BF96-7867-41E0-819E-8A182BF1BA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2776148"/>
            <a:ext cx="14206638" cy="7167952"/>
          </a:xfrm>
          <a:prstGeom prst="rect">
            <a:avLst/>
          </a:prstGeom>
        </p:spPr>
      </p:pic>
    </p:spTree>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rot="6280696">
            <a:off x="-2929552" y="-3145344"/>
            <a:ext cx="6517715" cy="6290687"/>
            <a:chOff x="0" y="0"/>
            <a:chExt cx="8690287" cy="8387583"/>
          </a:xfrm>
        </p:grpSpPr>
        <p:sp>
          <p:nvSpPr>
            <p:cNvPr id="4" name="TextBox 4"/>
            <p:cNvSpPr txBox="1"/>
            <p:nvPr/>
          </p:nvSpPr>
          <p:spPr>
            <a:xfrm rot="-7891318">
              <a:off x="1924543" y="161966"/>
              <a:ext cx="4284953" cy="8556158"/>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5" name="Freeform 5"/>
            <p:cNvSpPr/>
            <p:nvPr/>
          </p:nvSpPr>
          <p:spPr>
            <a:xfrm rot="10267691">
              <a:off x="3969836" y="680412"/>
              <a:ext cx="2010408" cy="2061992"/>
            </a:xfrm>
            <a:custGeom>
              <a:avLst/>
              <a:gdLst/>
              <a:ahLst/>
              <a:cxnLst/>
              <a:rect l="l" t="t" r="r" b="b"/>
              <a:pathLst>
                <a:path w="2010408" h="2061992">
                  <a:moveTo>
                    <a:pt x="0" y="0"/>
                  </a:moveTo>
                  <a:lnTo>
                    <a:pt x="2010408" y="0"/>
                  </a:lnTo>
                  <a:lnTo>
                    <a:pt x="2010408" y="2061992"/>
                  </a:lnTo>
                  <a:lnTo>
                    <a:pt x="0" y="20619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
        <p:nvSpPr>
          <p:cNvPr id="6" name="Freeform 6"/>
          <p:cNvSpPr/>
          <p:nvPr/>
        </p:nvSpPr>
        <p:spPr>
          <a:xfrm>
            <a:off x="6168419" y="529653"/>
            <a:ext cx="11755025" cy="9227695"/>
          </a:xfrm>
          <a:custGeom>
            <a:avLst/>
            <a:gdLst/>
            <a:ahLst/>
            <a:cxnLst/>
            <a:rect l="l" t="t" r="r" b="b"/>
            <a:pathLst>
              <a:path w="11755025" h="9227695">
                <a:moveTo>
                  <a:pt x="0" y="0"/>
                </a:moveTo>
                <a:lnTo>
                  <a:pt x="11755025" y="0"/>
                </a:lnTo>
                <a:lnTo>
                  <a:pt x="11755025" y="9227694"/>
                </a:lnTo>
                <a:lnTo>
                  <a:pt x="0" y="9227694"/>
                </a:lnTo>
                <a:lnTo>
                  <a:pt x="0" y="0"/>
                </a:lnTo>
                <a:close/>
              </a:path>
            </a:pathLst>
          </a:custGeom>
          <a:blipFill>
            <a:blip r:embed="rId5"/>
            <a:stretch>
              <a:fillRect/>
            </a:stretch>
          </a:blipFill>
        </p:spPr>
      </p:sp>
      <p:sp>
        <p:nvSpPr>
          <p:cNvPr id="7" name="TextBox 7"/>
          <p:cNvSpPr txBox="1"/>
          <p:nvPr/>
        </p:nvSpPr>
        <p:spPr>
          <a:xfrm>
            <a:off x="1202420" y="2604781"/>
            <a:ext cx="7652896" cy="1171624"/>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isual</a:t>
            </a:r>
          </a:p>
        </p:txBody>
      </p:sp>
      <p:sp>
        <p:nvSpPr>
          <p:cNvPr id="8" name="TextBox 8"/>
          <p:cNvSpPr txBox="1"/>
          <p:nvPr/>
        </p:nvSpPr>
        <p:spPr>
          <a:xfrm>
            <a:off x="329305" y="2560227"/>
            <a:ext cx="675944" cy="1277965"/>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V</a:t>
            </a:r>
          </a:p>
        </p:txBody>
      </p:sp>
      <p:sp>
        <p:nvSpPr>
          <p:cNvPr id="9" name="TextBox 9"/>
          <p:cNvSpPr txBox="1"/>
          <p:nvPr/>
        </p:nvSpPr>
        <p:spPr>
          <a:xfrm>
            <a:off x="329305" y="3624110"/>
            <a:ext cx="7652896" cy="1171624"/>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Graph</a:t>
            </a:r>
          </a:p>
        </p:txBody>
      </p:sp>
      <p:sp>
        <p:nvSpPr>
          <p:cNvPr id="10" name="TextBox 10"/>
          <p:cNvSpPr txBox="1"/>
          <p:nvPr/>
        </p:nvSpPr>
        <p:spPr>
          <a:xfrm>
            <a:off x="667277" y="5086350"/>
            <a:ext cx="5240359" cy="3648076"/>
          </a:xfrm>
          <a:prstGeom prst="rect">
            <a:avLst/>
          </a:prstGeom>
        </p:spPr>
        <p:txBody>
          <a:bodyPr lIns="0" tIns="0" rIns="0" bIns="0" rtlCol="0" anchor="t">
            <a:spAutoFit/>
          </a:bodyPr>
          <a:lstStyle/>
          <a:p>
            <a:pPr algn="l">
              <a:lnSpc>
                <a:spcPts val="4199"/>
              </a:lnSpc>
              <a:spcBef>
                <a:spcPct val="0"/>
              </a:spcBef>
            </a:pPr>
            <a:r>
              <a:rPr lang="en-US" sz="2999" b="1" spc="-149">
                <a:solidFill>
                  <a:srgbClr val="FFFFFF"/>
                </a:solidFill>
                <a:latin typeface="Arial Nova Bold"/>
                <a:ea typeface="Arial Nova Bold"/>
                <a:cs typeface="Arial Nova Bold"/>
                <a:sym typeface="Arial Nova Bold"/>
              </a:rPr>
              <a:t>Insights:</a:t>
            </a:r>
          </a:p>
          <a:p>
            <a:pPr marL="647694" lvl="1" indent="-323847" algn="l">
              <a:lnSpc>
                <a:spcPts val="4199"/>
              </a:lnSpc>
              <a:buFont typeface="Arial"/>
              <a:buChar char="•"/>
            </a:pPr>
            <a:r>
              <a:rPr lang="en-US" sz="2999" spc="-149">
                <a:solidFill>
                  <a:srgbClr val="FFFFFF"/>
                </a:solidFill>
                <a:latin typeface="Arial Nova"/>
                <a:ea typeface="Arial Nova"/>
                <a:cs typeface="Arial Nova"/>
                <a:sym typeface="Arial Nova"/>
              </a:rPr>
              <a:t>Parallel becomes faster as input size increases</a:t>
            </a:r>
          </a:p>
          <a:p>
            <a:pPr marL="647694" lvl="1" indent="-323847" algn="l">
              <a:lnSpc>
                <a:spcPts val="4199"/>
              </a:lnSpc>
              <a:buFont typeface="Arial"/>
              <a:buChar char="•"/>
            </a:pPr>
            <a:r>
              <a:rPr lang="en-US" sz="2999" spc="-149">
                <a:solidFill>
                  <a:srgbClr val="FFFFFF"/>
                </a:solidFill>
                <a:latin typeface="Arial Nova"/>
                <a:ea typeface="Arial Nova"/>
                <a:cs typeface="Arial Nova"/>
                <a:sym typeface="Arial Nova"/>
              </a:rPr>
              <a:t>Around 3.3x speed-up for large inputs</a:t>
            </a:r>
          </a:p>
          <a:p>
            <a:pPr marL="647694" lvl="1" indent="-323847" algn="l">
              <a:lnSpc>
                <a:spcPts val="4199"/>
              </a:lnSpc>
              <a:buFont typeface="Arial"/>
              <a:buChar char="•"/>
            </a:pPr>
            <a:r>
              <a:rPr lang="en-US" sz="2999" spc="-149">
                <a:solidFill>
                  <a:srgbClr val="FFFFFF"/>
                </a:solidFill>
                <a:latin typeface="Arial Nova"/>
                <a:ea typeface="Arial Nova"/>
                <a:cs typeface="Arial Nova"/>
                <a:sym typeface="Arial Nova"/>
              </a:rPr>
              <a:t>Thread overhead is visible at lower sample sizes</a:t>
            </a:r>
          </a:p>
        </p:txBody>
      </p:sp>
    </p:spTree>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3440989">
            <a:off x="15722275" y="-1941037"/>
            <a:ext cx="3213715" cy="6602856"/>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4" name="Freeform 4"/>
          <p:cNvSpPr/>
          <p:nvPr/>
        </p:nvSpPr>
        <p:spPr>
          <a:xfrm>
            <a:off x="15508551" y="2554212"/>
            <a:ext cx="1507806" cy="1546494"/>
          </a:xfrm>
          <a:custGeom>
            <a:avLst/>
            <a:gdLst/>
            <a:ahLst/>
            <a:cxnLst/>
            <a:rect l="l" t="t" r="r" b="b"/>
            <a:pathLst>
              <a:path w="1507806" h="1546494">
                <a:moveTo>
                  <a:pt x="0" y="0"/>
                </a:moveTo>
                <a:lnTo>
                  <a:pt x="1507806" y="0"/>
                </a:lnTo>
                <a:lnTo>
                  <a:pt x="1507806" y="1546494"/>
                </a:lnTo>
                <a:lnTo>
                  <a:pt x="0" y="15464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824582" y="7116183"/>
            <a:ext cx="7652896" cy="1171624"/>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equential vs.</a:t>
            </a:r>
          </a:p>
        </p:txBody>
      </p:sp>
      <p:sp>
        <p:nvSpPr>
          <p:cNvPr id="6" name="TextBox 6"/>
          <p:cNvSpPr txBox="1"/>
          <p:nvPr/>
        </p:nvSpPr>
        <p:spPr>
          <a:xfrm>
            <a:off x="1028700" y="7072537"/>
            <a:ext cx="675944" cy="1277965"/>
          </a:xfrm>
          <a:prstGeom prst="rect">
            <a:avLst/>
          </a:prstGeom>
        </p:spPr>
        <p:txBody>
          <a:bodyPr lIns="0" tIns="0" rIns="0" bIns="0" rtlCol="0" anchor="t">
            <a:spAutoFit/>
          </a:bodyPr>
          <a:lstStyle/>
          <a:p>
            <a:pPr algn="l">
              <a:lnSpc>
                <a:spcPts val="9453"/>
              </a:lnSpc>
            </a:pPr>
            <a:r>
              <a:rPr lang="en-US" sz="9951" b="1" i="1" spc="-796">
                <a:solidFill>
                  <a:srgbClr val="C83129"/>
                </a:solidFill>
                <a:latin typeface="Museo Moderno Bold Italics"/>
                <a:ea typeface="Museo Moderno Bold Italics"/>
                <a:cs typeface="Museo Moderno Bold Italics"/>
                <a:sym typeface="Museo Moderno Bold Italics"/>
              </a:rPr>
              <a:t>S</a:t>
            </a:r>
          </a:p>
        </p:txBody>
      </p:sp>
      <p:sp>
        <p:nvSpPr>
          <p:cNvPr id="7" name="TextBox 7"/>
          <p:cNvSpPr txBox="1"/>
          <p:nvPr/>
        </p:nvSpPr>
        <p:spPr>
          <a:xfrm>
            <a:off x="1028700" y="8086676"/>
            <a:ext cx="7652896" cy="1171624"/>
          </a:xfrm>
          <a:prstGeom prst="rect">
            <a:avLst/>
          </a:prstGeom>
        </p:spPr>
        <p:txBody>
          <a:bodyPr lIns="0" tIns="0" rIns="0" bIns="0" rtlCol="0" anchor="t">
            <a:spAutoFit/>
          </a:bodyPr>
          <a:lstStyle/>
          <a:p>
            <a:pPr algn="l">
              <a:lnSpc>
                <a:spcPts val="8691"/>
              </a:lnSpc>
            </a:pPr>
            <a:r>
              <a:rPr lang="en-US" sz="9149" b="1" spc="-731">
                <a:solidFill>
                  <a:srgbClr val="F8F8F8"/>
                </a:solidFill>
                <a:latin typeface="Arial Nova Bold"/>
                <a:ea typeface="Arial Nova Bold"/>
                <a:cs typeface="Arial Nova Bold"/>
                <a:sym typeface="Arial Nova Bold"/>
              </a:rPr>
              <a:t>Parallel</a:t>
            </a:r>
          </a:p>
        </p:txBody>
      </p:sp>
      <p:sp>
        <p:nvSpPr>
          <p:cNvPr id="8" name="TextBox 8"/>
          <p:cNvSpPr txBox="1"/>
          <p:nvPr/>
        </p:nvSpPr>
        <p:spPr>
          <a:xfrm>
            <a:off x="1537004" y="1935768"/>
            <a:ext cx="7144592" cy="2076451"/>
          </a:xfrm>
          <a:prstGeom prst="rect">
            <a:avLst/>
          </a:prstGeom>
        </p:spPr>
        <p:txBody>
          <a:bodyPr lIns="0" tIns="0" rIns="0" bIns="0" rtlCol="0" anchor="t">
            <a:spAutoFit/>
          </a:bodyPr>
          <a:lstStyle/>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Significant speed-up</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Efficient CPU core usage</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Minimal memory overhead</a:t>
            </a:r>
          </a:p>
          <a:p>
            <a:pPr algn="just">
              <a:lnSpc>
                <a:spcPts val="4199"/>
              </a:lnSpc>
            </a:pPr>
            <a:endParaRPr lang="en-US" sz="2999" spc="-149">
              <a:solidFill>
                <a:srgbClr val="F8F8F8"/>
              </a:solidFill>
              <a:latin typeface="Arial Nova"/>
              <a:ea typeface="Arial Nova"/>
              <a:cs typeface="Arial Nova"/>
              <a:sym typeface="Arial Nova"/>
            </a:endParaRPr>
          </a:p>
        </p:txBody>
      </p:sp>
      <p:sp>
        <p:nvSpPr>
          <p:cNvPr id="9" name="TextBox 9"/>
          <p:cNvSpPr txBox="1"/>
          <p:nvPr/>
        </p:nvSpPr>
        <p:spPr>
          <a:xfrm>
            <a:off x="1537004" y="1133475"/>
            <a:ext cx="8650460" cy="498474"/>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Advantages of Parallel Version</a:t>
            </a:r>
          </a:p>
        </p:txBody>
      </p:sp>
      <p:sp>
        <p:nvSpPr>
          <p:cNvPr id="10" name="Freeform 10"/>
          <p:cNvSpPr/>
          <p:nvPr/>
        </p:nvSpPr>
        <p:spPr>
          <a:xfrm rot="-2903202">
            <a:off x="1098214" y="1164874"/>
            <a:ext cx="322624" cy="330902"/>
          </a:xfrm>
          <a:custGeom>
            <a:avLst/>
            <a:gdLst/>
            <a:ahLst/>
            <a:cxnLst/>
            <a:rect l="l" t="t" r="r" b="b"/>
            <a:pathLst>
              <a:path w="322624" h="330902">
                <a:moveTo>
                  <a:pt x="0" y="0"/>
                </a:moveTo>
                <a:lnTo>
                  <a:pt x="322624" y="0"/>
                </a:lnTo>
                <a:lnTo>
                  <a:pt x="322624" y="330902"/>
                </a:lnTo>
                <a:lnTo>
                  <a:pt x="0" y="3309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8100536" y="4856431"/>
            <a:ext cx="9158764" cy="2459644"/>
            <a:chOff x="0" y="0"/>
            <a:chExt cx="12211685" cy="3279525"/>
          </a:xfrm>
        </p:grpSpPr>
        <p:sp>
          <p:nvSpPr>
            <p:cNvPr id="12" name="TextBox 12"/>
            <p:cNvSpPr txBox="1"/>
            <p:nvPr/>
          </p:nvSpPr>
          <p:spPr>
            <a:xfrm>
              <a:off x="677738" y="1228474"/>
              <a:ext cx="9526123" cy="2051051"/>
            </a:xfrm>
            <a:prstGeom prst="rect">
              <a:avLst/>
            </a:prstGeom>
          </p:spPr>
          <p:txBody>
            <a:bodyPr lIns="0" tIns="0" rIns="0" bIns="0" rtlCol="0" anchor="t">
              <a:spAutoFit/>
            </a:bodyPr>
            <a:lstStyle/>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More complex implementation</a:t>
              </a:r>
            </a:p>
            <a:p>
              <a:pPr marL="647694" lvl="1" indent="-323847" algn="just">
                <a:lnSpc>
                  <a:spcPts val="4199"/>
                </a:lnSpc>
                <a:buFont typeface="Arial"/>
                <a:buChar char="•"/>
              </a:pPr>
              <a:r>
                <a:rPr lang="en-US" sz="2999" spc="-149">
                  <a:solidFill>
                    <a:srgbClr val="F8F8F8"/>
                  </a:solidFill>
                  <a:latin typeface="Arial Nova"/>
                  <a:ea typeface="Arial Nova"/>
                  <a:cs typeface="Arial Nova"/>
                  <a:sym typeface="Arial Nova"/>
                </a:rPr>
                <a:t>Thread scheduling cost at small scales</a:t>
              </a:r>
            </a:p>
            <a:p>
              <a:pPr algn="just">
                <a:lnSpc>
                  <a:spcPts val="4199"/>
                </a:lnSpc>
              </a:pPr>
              <a:endParaRPr lang="en-US" sz="2999" spc="-149">
                <a:solidFill>
                  <a:srgbClr val="F8F8F8"/>
                </a:solidFill>
                <a:latin typeface="Arial Nova"/>
                <a:ea typeface="Arial Nova"/>
                <a:cs typeface="Arial Nova"/>
                <a:sym typeface="Arial Nova"/>
              </a:endParaRPr>
            </a:p>
          </p:txBody>
        </p:sp>
        <p:sp>
          <p:nvSpPr>
            <p:cNvPr id="13" name="TextBox 13"/>
            <p:cNvSpPr txBox="1"/>
            <p:nvPr/>
          </p:nvSpPr>
          <p:spPr>
            <a:xfrm>
              <a:off x="677738" y="104775"/>
              <a:ext cx="11533947" cy="699558"/>
            </a:xfrm>
            <a:prstGeom prst="rect">
              <a:avLst/>
            </a:prstGeom>
          </p:spPr>
          <p:txBody>
            <a:bodyPr lIns="0" tIns="0" rIns="0" bIns="0" rtlCol="0" anchor="t">
              <a:spAutoFit/>
            </a:bodyPr>
            <a:lstStyle/>
            <a:p>
              <a:pPr algn="l">
                <a:lnSpc>
                  <a:spcPts val="3799"/>
                </a:lnSpc>
              </a:pPr>
              <a:r>
                <a:rPr lang="en-US" sz="3999" b="1" spc="-319">
                  <a:solidFill>
                    <a:srgbClr val="F8F8F8"/>
                  </a:solidFill>
                  <a:latin typeface="Arial Nova Bold"/>
                  <a:ea typeface="Arial Nova Bold"/>
                  <a:cs typeface="Arial Nova Bold"/>
                  <a:sym typeface="Arial Nova Bold"/>
                </a:rPr>
                <a:t>Trade-offs</a:t>
              </a:r>
            </a:p>
          </p:txBody>
        </p:sp>
        <p:sp>
          <p:nvSpPr>
            <p:cNvPr id="14" name="Freeform 14"/>
            <p:cNvSpPr/>
            <p:nvPr/>
          </p:nvSpPr>
          <p:spPr>
            <a:xfrm rot="-2903202">
              <a:off x="92685" y="181565"/>
              <a:ext cx="430165" cy="441202"/>
            </a:xfrm>
            <a:custGeom>
              <a:avLst/>
              <a:gdLst/>
              <a:ahLst/>
              <a:cxnLst/>
              <a:rect l="l" t="t" r="r" b="b"/>
              <a:pathLst>
                <a:path w="430165" h="441202">
                  <a:moveTo>
                    <a:pt x="0" y="0"/>
                  </a:moveTo>
                  <a:lnTo>
                    <a:pt x="430165" y="0"/>
                  </a:lnTo>
                  <a:lnTo>
                    <a:pt x="430165" y="441203"/>
                  </a:lnTo>
                  <a:lnTo>
                    <a:pt x="0" y="4412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Tree>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2018190"/>
            <a:ext cx="9684799" cy="1269983"/>
          </a:xfrm>
          <a:prstGeom prst="rect">
            <a:avLst/>
          </a:prstGeom>
        </p:spPr>
        <p:txBody>
          <a:bodyPr lIns="0" tIns="0" rIns="0" bIns="0" rtlCol="0" anchor="t">
            <a:spAutoFit/>
          </a:bodyPr>
          <a:lstStyle/>
          <a:p>
            <a:pPr algn="l">
              <a:lnSpc>
                <a:spcPts val="9499"/>
              </a:lnSpc>
            </a:pPr>
            <a:r>
              <a:rPr lang="en-US" sz="9999" b="1" spc="-799">
                <a:solidFill>
                  <a:srgbClr val="1D2024"/>
                </a:solidFill>
                <a:latin typeface="Arial Nova Bold"/>
                <a:ea typeface="Arial Nova Bold"/>
                <a:cs typeface="Arial Nova Bold"/>
                <a:sym typeface="Arial Nova Bold"/>
              </a:rPr>
              <a:t>Future Work</a:t>
            </a:r>
          </a:p>
        </p:txBody>
      </p:sp>
      <p:sp>
        <p:nvSpPr>
          <p:cNvPr id="3" name="TextBox 3"/>
          <p:cNvSpPr txBox="1"/>
          <p:nvPr/>
        </p:nvSpPr>
        <p:spPr>
          <a:xfrm rot="5400000">
            <a:off x="13007474" y="4709762"/>
            <a:ext cx="5349966" cy="10974358"/>
          </a:xfrm>
          <a:prstGeom prst="rect">
            <a:avLst/>
          </a:prstGeom>
        </p:spPr>
        <p:txBody>
          <a:bodyPr lIns="0" tIns="0" rIns="0" bIns="0" rtlCol="0" anchor="t">
            <a:spAutoFit/>
          </a:bodyPr>
          <a:lstStyle/>
          <a:p>
            <a:pPr algn="l">
              <a:lnSpc>
                <a:spcPts val="90297"/>
              </a:lnSpc>
            </a:pPr>
            <a:r>
              <a:rPr lang="en-US" sz="64498" i="1" spc="-3869">
                <a:solidFill>
                  <a:srgbClr val="1D2024"/>
                </a:solidFill>
                <a:latin typeface="Museo Moderno Italics"/>
                <a:ea typeface="Museo Moderno Italics"/>
                <a:cs typeface="Museo Moderno Italics"/>
                <a:sym typeface="Museo Moderno Italics"/>
              </a:rPr>
              <a:t>E</a:t>
            </a:r>
          </a:p>
        </p:txBody>
      </p:sp>
      <p:sp>
        <p:nvSpPr>
          <p:cNvPr id="4" name="TextBox 4"/>
          <p:cNvSpPr txBox="1"/>
          <p:nvPr/>
        </p:nvSpPr>
        <p:spPr>
          <a:xfrm>
            <a:off x="1028700" y="3632922"/>
            <a:ext cx="11737838" cy="3405976"/>
          </a:xfrm>
          <a:prstGeom prst="rect">
            <a:avLst/>
          </a:prstGeom>
        </p:spPr>
        <p:txBody>
          <a:bodyPr lIns="0" tIns="0" rIns="0" bIns="0" rtlCol="0" anchor="t">
            <a:spAutoFit/>
          </a:bodyPr>
          <a:lstStyle/>
          <a:p>
            <a:pPr marL="842004" lvl="1" indent="-421002" algn="l">
              <a:lnSpc>
                <a:spcPts val="5459"/>
              </a:lnSpc>
              <a:buFont typeface="Arial"/>
              <a:buChar char="•"/>
            </a:pPr>
            <a:r>
              <a:rPr lang="en-US" sz="3899" i="1" spc="-233">
                <a:solidFill>
                  <a:srgbClr val="1D2024"/>
                </a:solidFill>
                <a:latin typeface="Arial Nova Italics"/>
                <a:ea typeface="Arial Nova Italics"/>
                <a:cs typeface="Arial Nova Italics"/>
                <a:sym typeface="Arial Nova Italics"/>
              </a:rPr>
              <a:t>Let user choose thread count</a:t>
            </a:r>
          </a:p>
          <a:p>
            <a:pPr marL="842004" lvl="1" indent="-421002" algn="l">
              <a:lnSpc>
                <a:spcPts val="5459"/>
              </a:lnSpc>
              <a:buFont typeface="Arial"/>
              <a:buChar char="•"/>
            </a:pPr>
            <a:r>
              <a:rPr lang="en-US" sz="3899" i="1" spc="-233">
                <a:solidFill>
                  <a:srgbClr val="1D2024"/>
                </a:solidFill>
                <a:latin typeface="Arial Nova Italics"/>
                <a:ea typeface="Arial Nova Italics"/>
                <a:cs typeface="Arial Nova Italics"/>
                <a:sym typeface="Arial Nova Italics"/>
              </a:rPr>
              <a:t>Try better RNGs (e.g., Sobol sequences)</a:t>
            </a:r>
          </a:p>
          <a:p>
            <a:pPr marL="842004" lvl="1" indent="-421002" algn="l">
              <a:lnSpc>
                <a:spcPts val="5459"/>
              </a:lnSpc>
              <a:buFont typeface="Arial"/>
              <a:buChar char="•"/>
            </a:pPr>
            <a:r>
              <a:rPr lang="en-US" sz="3899" i="1" spc="-233">
                <a:solidFill>
                  <a:srgbClr val="1D2024"/>
                </a:solidFill>
                <a:latin typeface="Arial Nova Italics"/>
                <a:ea typeface="Arial Nova Italics"/>
                <a:cs typeface="Arial Nova Italics"/>
                <a:sym typeface="Arial Nova Italics"/>
              </a:rPr>
              <a:t>Expand Monte Carlo to integrate other functions</a:t>
            </a:r>
          </a:p>
          <a:p>
            <a:pPr marL="842004" lvl="1" indent="-421002" algn="l">
              <a:lnSpc>
                <a:spcPts val="5459"/>
              </a:lnSpc>
              <a:buFont typeface="Arial"/>
              <a:buChar char="•"/>
            </a:pPr>
            <a:r>
              <a:rPr lang="en-US" sz="3899" i="1" spc="-233">
                <a:solidFill>
                  <a:srgbClr val="1D2024"/>
                </a:solidFill>
                <a:latin typeface="Arial Nova Italics"/>
                <a:ea typeface="Arial Nova Italics"/>
                <a:cs typeface="Arial Nova Italics"/>
                <a:sym typeface="Arial Nova Italics"/>
              </a:rPr>
              <a:t>Add more visuals like speed-up-only charts</a:t>
            </a:r>
          </a:p>
          <a:p>
            <a:pPr algn="l">
              <a:lnSpc>
                <a:spcPts val="5459"/>
              </a:lnSpc>
            </a:pPr>
            <a:endParaRPr lang="en-US" sz="3899" i="1" spc="-233">
              <a:solidFill>
                <a:srgbClr val="1D2024"/>
              </a:solidFill>
              <a:latin typeface="Arial Nova Italics"/>
              <a:ea typeface="Arial Nova Italics"/>
              <a:cs typeface="Arial Nova Italics"/>
              <a:sym typeface="Arial Nova Italics"/>
            </a:endParaRPr>
          </a:p>
        </p:txBody>
      </p:sp>
    </p:spTree>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919808" y="4941196"/>
            <a:ext cx="6572960" cy="6192638"/>
            <a:chOff x="0" y="0"/>
            <a:chExt cx="8763947" cy="8256850"/>
          </a:xfrm>
        </p:grpSpPr>
        <p:sp>
          <p:nvSpPr>
            <p:cNvPr id="4" name="TextBox 4"/>
            <p:cNvSpPr txBox="1"/>
            <p:nvPr/>
          </p:nvSpPr>
          <p:spPr>
            <a:xfrm rot="-7750022">
              <a:off x="1951489" y="84963"/>
              <a:ext cx="4284953" cy="8556158"/>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5" name="Freeform 5"/>
            <p:cNvSpPr/>
            <p:nvPr/>
          </p:nvSpPr>
          <p:spPr>
            <a:xfrm rot="10408988">
              <a:off x="4108135" y="643024"/>
              <a:ext cx="2010408" cy="2061992"/>
            </a:xfrm>
            <a:custGeom>
              <a:avLst/>
              <a:gdLst/>
              <a:ahLst/>
              <a:cxnLst/>
              <a:rect l="l" t="t" r="r" b="b"/>
              <a:pathLst>
                <a:path w="2010408" h="2061992">
                  <a:moveTo>
                    <a:pt x="0" y="0"/>
                  </a:moveTo>
                  <a:lnTo>
                    <a:pt x="2010408" y="0"/>
                  </a:lnTo>
                  <a:lnTo>
                    <a:pt x="2010408" y="2061992"/>
                  </a:lnTo>
                  <a:lnTo>
                    <a:pt x="0" y="20619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
        <p:nvSpPr>
          <p:cNvPr id="6" name="TextBox 6"/>
          <p:cNvSpPr txBox="1"/>
          <p:nvPr/>
        </p:nvSpPr>
        <p:spPr>
          <a:xfrm>
            <a:off x="4750920" y="4340759"/>
            <a:ext cx="8786161" cy="1967433"/>
          </a:xfrm>
          <a:prstGeom prst="rect">
            <a:avLst/>
          </a:prstGeom>
        </p:spPr>
        <p:txBody>
          <a:bodyPr lIns="0" tIns="0" rIns="0" bIns="0" rtlCol="0" anchor="t">
            <a:spAutoFit/>
          </a:bodyPr>
          <a:lstStyle/>
          <a:p>
            <a:pPr algn="l">
              <a:lnSpc>
                <a:spcPts val="14558"/>
              </a:lnSpc>
            </a:pPr>
            <a:r>
              <a:rPr lang="en-US" sz="15324" b="1" spc="-1225">
                <a:solidFill>
                  <a:srgbClr val="F8F8F8"/>
                </a:solidFill>
                <a:latin typeface="Arial Nova Bold"/>
                <a:ea typeface="Arial Nova Bold"/>
                <a:cs typeface="Arial Nova Bold"/>
                <a:sym typeface="Arial Nova Bold"/>
              </a:rPr>
              <a:t>Thank You</a:t>
            </a:r>
          </a:p>
        </p:txBody>
      </p:sp>
      <p:grpSp>
        <p:nvGrpSpPr>
          <p:cNvPr id="7" name="Group 7"/>
          <p:cNvGrpSpPr/>
          <p:nvPr/>
        </p:nvGrpSpPr>
        <p:grpSpPr>
          <a:xfrm rot="8364096">
            <a:off x="11795571" y="-2442508"/>
            <a:ext cx="6572960" cy="6192638"/>
            <a:chOff x="0" y="0"/>
            <a:chExt cx="8763947" cy="8256850"/>
          </a:xfrm>
        </p:grpSpPr>
        <p:sp>
          <p:nvSpPr>
            <p:cNvPr id="8" name="TextBox 8"/>
            <p:cNvSpPr txBox="1"/>
            <p:nvPr/>
          </p:nvSpPr>
          <p:spPr>
            <a:xfrm rot="-7750022">
              <a:off x="1951489" y="84963"/>
              <a:ext cx="4284953" cy="8556158"/>
            </a:xfrm>
            <a:prstGeom prst="rect">
              <a:avLst/>
            </a:prstGeom>
          </p:spPr>
          <p:txBody>
            <a:bodyPr lIns="0" tIns="0" rIns="0" bIns="0" rtlCol="0" anchor="t">
              <a:spAutoFit/>
            </a:bodyPr>
            <a:lstStyle/>
            <a:p>
              <a:pPr algn="l">
                <a:lnSpc>
                  <a:spcPts val="54241"/>
                </a:lnSpc>
              </a:pPr>
              <a:r>
                <a:rPr lang="en-US" sz="38744" i="1" spc="-2324">
                  <a:solidFill>
                    <a:srgbClr val="F8F8F8"/>
                  </a:solidFill>
                  <a:latin typeface="Museo Moderno Italics"/>
                  <a:ea typeface="Museo Moderno Italics"/>
                  <a:cs typeface="Museo Moderno Italics"/>
                  <a:sym typeface="Museo Moderno Italics"/>
                </a:rPr>
                <a:t>E</a:t>
              </a:r>
            </a:p>
          </p:txBody>
        </p:sp>
        <p:sp>
          <p:nvSpPr>
            <p:cNvPr id="9" name="Freeform 9"/>
            <p:cNvSpPr/>
            <p:nvPr/>
          </p:nvSpPr>
          <p:spPr>
            <a:xfrm rot="10408988">
              <a:off x="4108135" y="643024"/>
              <a:ext cx="2010408" cy="2061992"/>
            </a:xfrm>
            <a:custGeom>
              <a:avLst/>
              <a:gdLst/>
              <a:ahLst/>
              <a:cxnLst/>
              <a:rect l="l" t="t" r="r" b="b"/>
              <a:pathLst>
                <a:path w="2010408" h="2061992">
                  <a:moveTo>
                    <a:pt x="0" y="0"/>
                  </a:moveTo>
                  <a:lnTo>
                    <a:pt x="2010408" y="0"/>
                  </a:lnTo>
                  <a:lnTo>
                    <a:pt x="2010408" y="2061992"/>
                  </a:lnTo>
                  <a:lnTo>
                    <a:pt x="0" y="20619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sp>
        <p:nvSpPr>
          <p:cNvPr id="10" name="AutoShape 10"/>
          <p:cNvSpPr/>
          <p:nvPr/>
        </p:nvSpPr>
        <p:spPr>
          <a:xfrm>
            <a:off x="5897880" y="6713859"/>
            <a:ext cx="6492240" cy="0"/>
          </a:xfrm>
          <a:prstGeom prst="line">
            <a:avLst/>
          </a:prstGeom>
          <a:ln w="38100" cap="flat">
            <a:solidFill>
              <a:srgbClr val="FFFFFF"/>
            </a:solidFill>
            <a:prstDash val="solid"/>
            <a:headEnd type="none" w="sm" len="sm"/>
            <a:tailEnd type="none" w="sm" len="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407</Words>
  <Application>Microsoft Office PowerPoint</Application>
  <PresentationFormat>Custom</PresentationFormat>
  <Paragraphs>98</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 Nova</vt:lpstr>
      <vt:lpstr>Calibri</vt:lpstr>
      <vt:lpstr>Museo Moderno Bold Italics</vt:lpstr>
      <vt:lpstr>Arial Nova Bold</vt:lpstr>
      <vt:lpstr>Arial</vt:lpstr>
      <vt:lpstr>Museo Moderno Italics</vt:lpstr>
      <vt:lpstr>Arial Nova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Illustrative Project Proposal Presentation</dc:title>
  <cp:lastModifiedBy>Ali Sousa</cp:lastModifiedBy>
  <cp:revision>3</cp:revision>
  <dcterms:created xsi:type="dcterms:W3CDTF">2006-08-16T00:00:00Z</dcterms:created>
  <dcterms:modified xsi:type="dcterms:W3CDTF">2026-07-14T12:29:56Z</dcterms:modified>
  <dc:identifier>DAGqbXcsPaA</dc:identifier>
</cp:coreProperties>
</file>